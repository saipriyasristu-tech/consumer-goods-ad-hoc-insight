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core0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officedocument/2006/relationships/metadata/core-properties" Target="docProps/core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70" r:id="rId2"/>
  </p:sldMasterIdLst>
  <p:notesMasterIdLst>
    <p:notesMasterId r:id="rId21"/>
  </p:notesMasterIdLst>
  <p:sldIdLst>
    <p:sldId id="256" r:id="rId3"/>
    <p:sldId id="257" r:id="rId4"/>
    <p:sldId id="258" r:id="rId5"/>
    <p:sldId id="259" r:id="rId6"/>
    <p:sldId id="260" r:id="rId7"/>
    <p:sldId id="261" r:id="rId8"/>
    <p:sldId id="270" r:id="rId9"/>
    <p:sldId id="271" r:id="rId10"/>
    <p:sldId id="262" r:id="rId11"/>
    <p:sldId id="268" r:id="rId12"/>
    <p:sldId id="263" r:id="rId13"/>
    <p:sldId id="269" r:id="rId14"/>
    <p:sldId id="264" r:id="rId15"/>
    <p:sldId id="265" r:id="rId16"/>
    <p:sldId id="266" r:id="rId17"/>
    <p:sldId id="273" r:id="rId18"/>
    <p:sldId id="274" r:id="rId19"/>
    <p:sldId id="275" r:id="rId20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FFFF"/>
    <a:srgbClr val="CCCCFF"/>
    <a:srgbClr val="CC99FF"/>
    <a:srgbClr val="CCECFF"/>
    <a:srgbClr val="9900CC"/>
    <a:srgbClr val="CCF6DC"/>
    <a:srgbClr val="9966FF"/>
    <a:srgbClr val="00FF00"/>
    <a:srgbClr val="C9EBF9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94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srist\Downloads\query-2.csv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srist\Downloads\query-3.csv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srist\Downloads\query4.csv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srist\Downloads\query8.csv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srist\Downloads\query9.csv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00" b="0" i="0" u="none" strike="noStrike" kern="1200" cap="all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pPr>
            <a:r>
              <a:rPr lang="en-IN" sz="1600"/>
              <a:t>product</a:t>
            </a:r>
            <a:r>
              <a:rPr lang="en-IN" sz="1600" baseline="0"/>
              <a:t> increase 2021 VS 2020</a:t>
            </a:r>
            <a:endParaRPr lang="en-IN" sz="160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0" u="none" strike="noStrike" kern="1200" cap="all" baseline="0">
              <a:solidFill>
                <a:schemeClr val="lt1"/>
              </a:solidFill>
              <a:latin typeface="+mn-lt"/>
              <a:ea typeface="+mn-ea"/>
              <a:cs typeface="+mn-cs"/>
            </a:defRPr>
          </a:pPr>
          <a:endParaRPr lang="en-IN"/>
        </a:p>
      </c:txPr>
    </c:title>
    <c:autoTitleDeleted val="0"/>
    <c:view3D>
      <c:rotX val="15"/>
      <c:rotY val="20"/>
      <c:depthPercent val="100"/>
      <c:rAngAx val="1"/>
    </c:view3D>
    <c:floor>
      <c:thickness val="0"/>
      <c:spPr>
        <a:solidFill>
          <a:schemeClr val="bg2">
            <a:lumMod val="75000"/>
            <a:alpha val="27000"/>
          </a:schemeClr>
        </a:solidFill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bar3DChart>
        <c:barDir val="bar"/>
        <c:grouping val="clustered"/>
        <c:varyColors val="0"/>
        <c:ser>
          <c:idx val="0"/>
          <c:order val="0"/>
          <c:spPr>
            <a:solidFill>
              <a:schemeClr val="accent1">
                <a:alpha val="88000"/>
              </a:schemeClr>
            </a:solidFill>
            <a:ln>
              <a:solidFill>
                <a:schemeClr val="accent1">
                  <a:lumMod val="50000"/>
                </a:schemeClr>
              </a:solidFill>
            </a:ln>
            <a:effectLst/>
            <a:scene3d>
              <a:camera prst="orthographicFront"/>
              <a:lightRig rig="threePt" dir="t"/>
            </a:scene3d>
            <a:sp3d prstMaterial="flat">
              <a:contourClr>
                <a:schemeClr val="accent1">
                  <a:lumMod val="50000"/>
                </a:schemeClr>
              </a:contourClr>
            </a:sp3d>
          </c:spPr>
          <c:invertIfNegative val="0"/>
          <c:dLbls>
            <c:spPr>
              <a:solidFill>
                <a:srgbClr val="4472C4">
                  <a:alpha val="30000"/>
                </a:srgbClr>
              </a:solidFill>
              <a:ln>
                <a:solidFill>
                  <a:sysClr val="window" lastClr="FFFFFF">
                    <a:alpha val="50000"/>
                  </a:sysClr>
                </a:solidFill>
                <a:round/>
              </a:ln>
              <a:effectLst>
                <a:outerShdw blurRad="63500" dist="88900" dir="2700000" algn="tl" rotWithShape="0">
                  <a:prstClr val="black">
                    <a:alpha val="40000"/>
                  </a:prstClr>
                </a:outerShdw>
              </a:effectLst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lt1">
                          <a:lumMod val="50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'query-2'!$A$1:$C$1</c:f>
              <c:strCache>
                <c:ptCount val="3"/>
                <c:pt idx="0">
                  <c:v>unique_product_2020</c:v>
                </c:pt>
                <c:pt idx="1">
                  <c:v>unique_product_2021</c:v>
                </c:pt>
                <c:pt idx="2">
                  <c:v>percentage_chg</c:v>
                </c:pt>
              </c:strCache>
            </c:strRef>
          </c:cat>
          <c:val>
            <c:numRef>
              <c:f>'query-2'!$A$2:$C$2</c:f>
              <c:numCache>
                <c:formatCode>General</c:formatCode>
                <c:ptCount val="3"/>
                <c:pt idx="0">
                  <c:v>245</c:v>
                </c:pt>
                <c:pt idx="1">
                  <c:v>334</c:v>
                </c:pt>
                <c:pt idx="2">
                  <c:v>36.33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2C8-467F-BD48-4FA324E11B4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84"/>
        <c:gapDepth val="53"/>
        <c:shape val="box"/>
        <c:axId val="1932605056"/>
        <c:axId val="1932603616"/>
        <c:axId val="0"/>
      </c:bar3DChart>
      <c:catAx>
        <c:axId val="1932605056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32603616"/>
        <c:crosses val="autoZero"/>
        <c:auto val="1"/>
        <c:lblAlgn val="ctr"/>
        <c:lblOffset val="100"/>
        <c:noMultiLvlLbl val="0"/>
      </c:catAx>
      <c:valAx>
        <c:axId val="1932603616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93260505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dk1">
        <a:lumMod val="75000"/>
        <a:lumOff val="25000"/>
      </a:schemeClr>
    </a:solidFill>
    <a:ln w="6350" cap="flat" cmpd="sng" algn="ctr">
      <a:solidFill>
        <a:schemeClr val="dk1">
          <a:tint val="7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="1" i="0" u="none" strike="noStrike" kern="1200" spc="100" baseline="0">
                <a:solidFill>
                  <a:srgbClr val="132763">
                    <a:lumMod val="95000"/>
                  </a:srgb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pPr>
            <a:r>
              <a:rPr lang="en-US" sz="1600" b="1" i="0" u="none" strike="noStrike" kern="1200" spc="100" baseline="0" dirty="0">
                <a:solidFill>
                  <a:srgbClr val="281902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a:rPr>
              <a:t>Product distribution by segment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132763">
                    <a:lumMod val="95000"/>
                  </a:srgbClr>
                </a:solidFill>
              </a:defRPr>
            </a:pPr>
            <a:endParaRPr lang="en-US" dirty="0"/>
          </a:p>
        </c:rich>
      </c:tx>
      <c:layout>
        <c:manualLayout>
          <c:xMode val="edge"/>
          <c:yMode val="edge"/>
          <c:x val="0.20894659846733046"/>
          <c:y val="0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marL="0" marR="0" lvl="0" indent="0" algn="ctr" defTabSz="914400" rtl="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 sz="1600" b="1" i="0" u="none" strike="noStrike" kern="1200" spc="100" baseline="0">
              <a:solidFill>
                <a:srgbClr val="132763">
                  <a:lumMod val="95000"/>
                </a:srgbClr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18027015724666026"/>
          <c:y val="0.21198726469042692"/>
          <c:w val="0.77828677506037869"/>
          <c:h val="0.68015440017310125"/>
        </c:manualLayout>
      </c:layout>
      <c:barChart>
        <c:barDir val="bar"/>
        <c:grouping val="stacked"/>
        <c:varyColors val="0"/>
        <c:ser>
          <c:idx val="0"/>
          <c:order val="0"/>
          <c:tx>
            <c:strRef>
              <c:f>'query-3'!$B$1</c:f>
              <c:strCache>
                <c:ptCount val="1"/>
                <c:pt idx="0">
                  <c:v>product_count</c:v>
                </c:pt>
              </c:strCache>
            </c:strRef>
          </c:tx>
          <c:spPr>
            <a:solidFill>
              <a:srgbClr val="C9EBF9"/>
            </a:soli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lt1">
                          <a:lumMod val="95000"/>
                          <a:alpha val="54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'query-3'!$A$2:$A$7</c:f>
              <c:strCache>
                <c:ptCount val="6"/>
                <c:pt idx="0">
                  <c:v>Notebook</c:v>
                </c:pt>
                <c:pt idx="1">
                  <c:v>Accessories</c:v>
                </c:pt>
                <c:pt idx="2">
                  <c:v>Peripherals</c:v>
                </c:pt>
                <c:pt idx="3">
                  <c:v>Desktop</c:v>
                </c:pt>
                <c:pt idx="4">
                  <c:v>Storage</c:v>
                </c:pt>
                <c:pt idx="5">
                  <c:v>Networking</c:v>
                </c:pt>
              </c:strCache>
            </c:strRef>
          </c:cat>
          <c:val>
            <c:numRef>
              <c:f>'query-3'!$B$2:$B$7</c:f>
              <c:numCache>
                <c:formatCode>General</c:formatCode>
                <c:ptCount val="6"/>
                <c:pt idx="0">
                  <c:v>129</c:v>
                </c:pt>
                <c:pt idx="1">
                  <c:v>116</c:v>
                </c:pt>
                <c:pt idx="2">
                  <c:v>84</c:v>
                </c:pt>
                <c:pt idx="3">
                  <c:v>32</c:v>
                </c:pt>
                <c:pt idx="4">
                  <c:v>27</c:v>
                </c:pt>
                <c:pt idx="5">
                  <c:v>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838-4D2E-AE79-8FE928999FC4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115"/>
        <c:overlap val="100"/>
        <c:axId val="2036512032"/>
        <c:axId val="2036513472"/>
      </c:barChart>
      <c:catAx>
        <c:axId val="203651203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noFill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36513472"/>
        <c:crosses val="autoZero"/>
        <c:auto val="1"/>
        <c:lblAlgn val="ctr"/>
        <c:lblOffset val="100"/>
        <c:noMultiLvlLbl val="0"/>
      </c:catAx>
      <c:valAx>
        <c:axId val="203651347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3651203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 flip="none" rotWithShape="1">
      <a:gsLst>
        <a:gs pos="0">
          <a:schemeClr val="dk1">
            <a:lumMod val="65000"/>
            <a:lumOff val="35000"/>
          </a:schemeClr>
        </a:gs>
        <a:gs pos="100000">
          <a:schemeClr val="dk1">
            <a:lumMod val="85000"/>
            <a:lumOff val="15000"/>
          </a:schemeClr>
        </a:gs>
      </a:gsLst>
      <a:path path="circle">
        <a:fillToRect l="50000" t="50000" r="50000" b="50000"/>
      </a:path>
      <a:tileRect/>
    </a:gra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00" b="0" i="0" u="none" strike="noStrike" kern="1200" cap="all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pPr>
            <a:r>
              <a:rPr lang="en-IN"/>
              <a:t>Fastest</a:t>
            </a:r>
            <a:r>
              <a:rPr lang="en-IN" baseline="0"/>
              <a:t> Growing segment</a:t>
            </a:r>
            <a:endParaRPr lang="en-IN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0" u="none" strike="noStrike" kern="1200" cap="all" baseline="0">
              <a:solidFill>
                <a:schemeClr val="lt1"/>
              </a:solidFill>
              <a:latin typeface="+mn-lt"/>
              <a:ea typeface="+mn-ea"/>
              <a:cs typeface="+mn-cs"/>
            </a:defRPr>
          </a:pPr>
          <a:endParaRPr lang="en-IN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query4!$B$1</c:f>
              <c:strCache>
                <c:ptCount val="1"/>
                <c:pt idx="0">
                  <c:v>product_count_2020</c:v>
                </c:pt>
              </c:strCache>
            </c:strRef>
          </c:tx>
          <c:spPr>
            <a:solidFill>
              <a:srgbClr val="CCF6DC"/>
            </a:solidFill>
            <a:ln>
              <a:solidFill>
                <a:schemeClr val="accent1">
                  <a:lumMod val="50000"/>
                </a:schemeClr>
              </a:solidFill>
            </a:ln>
            <a:effectLst/>
          </c:spPr>
          <c:invertIfNegative val="0"/>
          <c:dLbls>
            <c:spPr>
              <a:solidFill>
                <a:schemeClr val="accent1">
                  <a:alpha val="30000"/>
                </a:schemeClr>
              </a:solidFill>
              <a:ln>
                <a:solidFill>
                  <a:schemeClr val="lt1">
                    <a:alpha val="50000"/>
                  </a:schemeClr>
                </a:solidFill>
                <a:round/>
              </a:ln>
              <a:effectLst>
                <a:outerShdw blurRad="63500" dist="88900" dir="2700000" algn="tl" rotWithShape="0">
                  <a:prstClr val="black">
                    <a:alpha val="40000"/>
                  </a:prstClr>
                </a:outerShdw>
              </a:effectLst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lt1">
                          <a:lumMod val="50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query4!$A$2:$A$7</c:f>
              <c:strCache>
                <c:ptCount val="6"/>
                <c:pt idx="0">
                  <c:v>Accessories</c:v>
                </c:pt>
                <c:pt idx="1">
                  <c:v>Notebook</c:v>
                </c:pt>
                <c:pt idx="2">
                  <c:v>Peripherals</c:v>
                </c:pt>
                <c:pt idx="3">
                  <c:v>Desktop</c:v>
                </c:pt>
                <c:pt idx="4">
                  <c:v>Storage</c:v>
                </c:pt>
                <c:pt idx="5">
                  <c:v>Networking</c:v>
                </c:pt>
              </c:strCache>
            </c:strRef>
          </c:cat>
          <c:val>
            <c:numRef>
              <c:f>query4!$B$2:$B$7</c:f>
              <c:numCache>
                <c:formatCode>General</c:formatCode>
                <c:ptCount val="6"/>
                <c:pt idx="0">
                  <c:v>69</c:v>
                </c:pt>
                <c:pt idx="1">
                  <c:v>92</c:v>
                </c:pt>
                <c:pt idx="2">
                  <c:v>59</c:v>
                </c:pt>
                <c:pt idx="3">
                  <c:v>7</c:v>
                </c:pt>
                <c:pt idx="4">
                  <c:v>12</c:v>
                </c:pt>
                <c:pt idx="5">
                  <c:v>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15D-478C-8AF1-9689D28053EF}"/>
            </c:ext>
          </c:extLst>
        </c:ser>
        <c:ser>
          <c:idx val="1"/>
          <c:order val="1"/>
          <c:tx>
            <c:strRef>
              <c:f>query4!$C$1</c:f>
              <c:strCache>
                <c:ptCount val="1"/>
                <c:pt idx="0">
                  <c:v>product_count_2021</c:v>
                </c:pt>
              </c:strCache>
            </c:strRef>
          </c:tx>
          <c:spPr>
            <a:solidFill>
              <a:srgbClr val="E5BBEB"/>
            </a:solidFill>
            <a:ln>
              <a:solidFill>
                <a:schemeClr val="accent2">
                  <a:lumMod val="50000"/>
                </a:schemeClr>
              </a:solidFill>
            </a:ln>
            <a:effectLst/>
          </c:spPr>
          <c:invertIfNegative val="0"/>
          <c:dLbls>
            <c:spPr>
              <a:solidFill>
                <a:schemeClr val="accent2">
                  <a:alpha val="30000"/>
                </a:schemeClr>
              </a:solidFill>
              <a:ln>
                <a:solidFill>
                  <a:schemeClr val="lt1">
                    <a:alpha val="50000"/>
                  </a:schemeClr>
                </a:solidFill>
                <a:round/>
              </a:ln>
              <a:effectLst>
                <a:outerShdw blurRad="63500" dist="88900" dir="2700000" algn="tl" rotWithShape="0">
                  <a:prstClr val="black">
                    <a:alpha val="40000"/>
                  </a:prstClr>
                </a:outerShdw>
              </a:effectLst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lt1">
                          <a:lumMod val="50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query4!$A$2:$A$7</c:f>
              <c:strCache>
                <c:ptCount val="6"/>
                <c:pt idx="0">
                  <c:v>Accessories</c:v>
                </c:pt>
                <c:pt idx="1">
                  <c:v>Notebook</c:v>
                </c:pt>
                <c:pt idx="2">
                  <c:v>Peripherals</c:v>
                </c:pt>
                <c:pt idx="3">
                  <c:v>Desktop</c:v>
                </c:pt>
                <c:pt idx="4">
                  <c:v>Storage</c:v>
                </c:pt>
                <c:pt idx="5">
                  <c:v>Networking</c:v>
                </c:pt>
              </c:strCache>
            </c:strRef>
          </c:cat>
          <c:val>
            <c:numRef>
              <c:f>query4!$C$2:$C$7</c:f>
              <c:numCache>
                <c:formatCode>General</c:formatCode>
                <c:ptCount val="6"/>
                <c:pt idx="0">
                  <c:v>103</c:v>
                </c:pt>
                <c:pt idx="1">
                  <c:v>108</c:v>
                </c:pt>
                <c:pt idx="2">
                  <c:v>75</c:v>
                </c:pt>
                <c:pt idx="3">
                  <c:v>22</c:v>
                </c:pt>
                <c:pt idx="4">
                  <c:v>17</c:v>
                </c:pt>
                <c:pt idx="5">
                  <c:v>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15D-478C-8AF1-9689D28053EF}"/>
            </c:ext>
          </c:extLst>
        </c:ser>
        <c:ser>
          <c:idx val="2"/>
          <c:order val="2"/>
          <c:tx>
            <c:strRef>
              <c:f>query4!$D$1</c:f>
              <c:strCache>
                <c:ptCount val="1"/>
                <c:pt idx="0">
                  <c:v>difference</c:v>
                </c:pt>
              </c:strCache>
            </c:strRef>
          </c:tx>
          <c:spPr>
            <a:solidFill>
              <a:srgbClr val="9966FF"/>
            </a:solidFill>
            <a:ln>
              <a:solidFill>
                <a:schemeClr val="accent3">
                  <a:lumMod val="50000"/>
                </a:schemeClr>
              </a:solidFill>
            </a:ln>
            <a:effectLst/>
          </c:spPr>
          <c:invertIfNegative val="0"/>
          <c:dLbls>
            <c:spPr>
              <a:solidFill>
                <a:schemeClr val="accent3">
                  <a:alpha val="30000"/>
                </a:schemeClr>
              </a:solidFill>
              <a:ln>
                <a:solidFill>
                  <a:schemeClr val="lt1">
                    <a:alpha val="50000"/>
                  </a:schemeClr>
                </a:solidFill>
                <a:round/>
              </a:ln>
              <a:effectLst>
                <a:outerShdw blurRad="63500" dist="88900" dir="2700000" algn="tl" rotWithShape="0">
                  <a:prstClr val="black">
                    <a:alpha val="40000"/>
                  </a:prstClr>
                </a:outerShdw>
              </a:effectLst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lt1">
                          <a:lumMod val="50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query4!$A$2:$A$7</c:f>
              <c:strCache>
                <c:ptCount val="6"/>
                <c:pt idx="0">
                  <c:v>Accessories</c:v>
                </c:pt>
                <c:pt idx="1">
                  <c:v>Notebook</c:v>
                </c:pt>
                <c:pt idx="2">
                  <c:v>Peripherals</c:v>
                </c:pt>
                <c:pt idx="3">
                  <c:v>Desktop</c:v>
                </c:pt>
                <c:pt idx="4">
                  <c:v>Storage</c:v>
                </c:pt>
                <c:pt idx="5">
                  <c:v>Networking</c:v>
                </c:pt>
              </c:strCache>
            </c:strRef>
          </c:cat>
          <c:val>
            <c:numRef>
              <c:f>query4!$D$2:$D$7</c:f>
              <c:numCache>
                <c:formatCode>General</c:formatCode>
                <c:ptCount val="6"/>
                <c:pt idx="0">
                  <c:v>34</c:v>
                </c:pt>
                <c:pt idx="1">
                  <c:v>16</c:v>
                </c:pt>
                <c:pt idx="2">
                  <c:v>16</c:v>
                </c:pt>
                <c:pt idx="3">
                  <c:v>15</c:v>
                </c:pt>
                <c:pt idx="4">
                  <c:v>5</c:v>
                </c:pt>
                <c:pt idx="5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15D-478C-8AF1-9689D28053EF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84"/>
        <c:axId val="1762630016"/>
        <c:axId val="1762641536"/>
      </c:barChart>
      <c:catAx>
        <c:axId val="1762630016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62641536"/>
        <c:crosses val="autoZero"/>
        <c:auto val="1"/>
        <c:lblAlgn val="ctr"/>
        <c:lblOffset val="100"/>
        <c:noMultiLvlLbl val="0"/>
      </c:catAx>
      <c:valAx>
        <c:axId val="1762641536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crossAx val="176263001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lt1">
                  <a:lumMod val="7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>
        <a:lumMod val="20000"/>
        <a:lumOff val="80000"/>
      </a:schemeClr>
    </a:solidFill>
    <a:ln w="6350" cap="flat" cmpd="sng" algn="ctr">
      <a:noFill/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spc="100" baseline="0">
                <a:solidFill>
                  <a:schemeClr val="lt1">
                    <a:lumMod val="95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pPr>
            <a:r>
              <a:rPr lang="en-US"/>
              <a:t>Quarterly</a:t>
            </a:r>
            <a:r>
              <a:rPr lang="en-US" baseline="0"/>
              <a:t> Sales Trend</a:t>
            </a:r>
            <a:endParaRPr 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spc="100" baseline="0">
              <a:solidFill>
                <a:schemeClr val="lt1">
                  <a:lumMod val="95000"/>
                </a:schemeClr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3.3994249446531365E-2"/>
          <c:y val="0.17713327500729073"/>
          <c:w val="0.93888888888888888"/>
          <c:h val="0.72046296296296297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query8!$B$1</c:f>
              <c:strCache>
                <c:ptCount val="1"/>
                <c:pt idx="0">
                  <c:v>total_sold_quantity</c:v>
                </c:pt>
              </c:strCache>
            </c:strRef>
          </c:tx>
          <c:spPr>
            <a:solidFill>
              <a:srgbClr val="CCCCFF"/>
            </a:solidFill>
            <a:ln>
              <a:solidFill>
                <a:schemeClr val="bg1">
                  <a:lumMod val="40000"/>
                  <a:lumOff val="60000"/>
                </a:schemeClr>
              </a:solidFill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dPt>
            <c:idx val="0"/>
            <c:invertIfNegative val="0"/>
            <c:bubble3D val="0"/>
            <c:spPr>
              <a:solidFill>
                <a:srgbClr val="CCCCFF"/>
              </a:solidFill>
              <a:ln>
                <a:solidFill>
                  <a:srgbClr val="C9EBF9"/>
                </a:solidFill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1-8B5D-4254-9710-2DA7C38C16AB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lt1">
                          <a:lumMod val="95000"/>
                          <a:alpha val="54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query8!$A$2:$A$5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Q4</c:v>
                </c:pt>
                <c:pt idx="3">
                  <c:v>Q3</c:v>
                </c:pt>
              </c:strCache>
            </c:strRef>
          </c:cat>
          <c:val>
            <c:numRef>
              <c:f>query8!$B$2:$B$5</c:f>
              <c:numCache>
                <c:formatCode>General</c:formatCode>
                <c:ptCount val="4"/>
                <c:pt idx="0">
                  <c:v>53076832</c:v>
                </c:pt>
                <c:pt idx="1">
                  <c:v>36973800</c:v>
                </c:pt>
                <c:pt idx="2">
                  <c:v>19051799</c:v>
                </c:pt>
                <c:pt idx="3">
                  <c:v>16189125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B5D-4254-9710-2DA7C38C16AB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00"/>
        <c:overlap val="-24"/>
        <c:axId val="1005460767"/>
        <c:axId val="1005463167"/>
      </c:barChart>
      <c:catAx>
        <c:axId val="1005460767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12700" cap="flat" cmpd="sng" algn="ctr">
            <a:noFill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05463167"/>
        <c:crosses val="autoZero"/>
        <c:auto val="1"/>
        <c:lblAlgn val="ctr"/>
        <c:lblOffset val="100"/>
        <c:noMultiLvlLbl val="0"/>
      </c:catAx>
      <c:valAx>
        <c:axId val="1005463167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crossAx val="1005460767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 flip="none" rotWithShape="1">
      <a:gsLst>
        <a:gs pos="0">
          <a:schemeClr val="dk1">
            <a:lumMod val="65000"/>
            <a:lumOff val="35000"/>
          </a:schemeClr>
        </a:gs>
        <a:gs pos="100000">
          <a:schemeClr val="dk1">
            <a:lumMod val="85000"/>
            <a:lumOff val="15000"/>
          </a:schemeClr>
        </a:gs>
      </a:gsLst>
      <a:path path="circle">
        <a:fillToRect l="50000" t="50000" r="50000" b="50000"/>
      </a:path>
      <a:tileRect/>
    </a:gra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spc="100" baseline="0">
                <a:solidFill>
                  <a:schemeClr val="lt1">
                    <a:lumMod val="95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pPr>
            <a:r>
              <a:rPr lang="en-US"/>
              <a:t>Channel</a:t>
            </a:r>
            <a:r>
              <a:rPr lang="en-US" baseline="0"/>
              <a:t> Performance</a:t>
            </a:r>
            <a:endParaRPr 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spc="100" baseline="0">
              <a:solidFill>
                <a:schemeClr val="lt1">
                  <a:lumMod val="95000"/>
                </a:schemeClr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query9!$B$1</c:f>
              <c:strCache>
                <c:ptCount val="1"/>
                <c:pt idx="0">
                  <c:v>gross_sales_mln</c:v>
                </c:pt>
              </c:strCache>
            </c:strRef>
          </c:tx>
          <c:spPr>
            <a:solidFill>
              <a:srgbClr val="CCECFF"/>
            </a:solidFill>
          </c:spPr>
          <c:dPt>
            <c:idx val="0"/>
            <c:bubble3D val="0"/>
            <c:spPr>
              <a:solidFill>
                <a:srgbClr val="CC99FF"/>
              </a:soli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1-AF76-4E2C-B9C7-E68EB666593A}"/>
              </c:ext>
            </c:extLst>
          </c:dPt>
          <c:dPt>
            <c:idx val="1"/>
            <c:bubble3D val="0"/>
            <c:spPr>
              <a:solidFill>
                <a:srgbClr val="CCECFF"/>
              </a:soli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3-AF76-4E2C-B9C7-E68EB666593A}"/>
              </c:ext>
            </c:extLst>
          </c:dPt>
          <c:dPt>
            <c:idx val="2"/>
            <c:bubble3D val="0"/>
            <c:spPr>
              <a:solidFill>
                <a:schemeClr val="bg1">
                  <a:lumMod val="40000"/>
                  <a:lumOff val="60000"/>
                </a:schemeClr>
              </a:soli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5-AF76-4E2C-B9C7-E68EB666593A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1"/>
            <c:showBubbleSize val="0"/>
            <c:showLeaderLines val="1"/>
            <c:leaderLines>
              <c:spPr>
                <a:ln w="9525">
                  <a:solidFill>
                    <a:schemeClr val="lt1">
                      <a:lumMod val="95000"/>
                      <a:alpha val="54000"/>
                    </a:schemeClr>
                  </a:solidFill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query9!$A$2:$A$4</c:f>
              <c:strCache>
                <c:ptCount val="3"/>
                <c:pt idx="0">
                  <c:v>Retailer</c:v>
                </c:pt>
                <c:pt idx="1">
                  <c:v>Direct</c:v>
                </c:pt>
                <c:pt idx="2">
                  <c:v>Distributor</c:v>
                </c:pt>
              </c:strCache>
            </c:strRef>
          </c:cat>
          <c:val>
            <c:numRef>
              <c:f>query9!$B$2:$B$4</c:f>
              <c:numCache>
                <c:formatCode>General</c:formatCode>
                <c:ptCount val="3"/>
                <c:pt idx="0">
                  <c:v>1219.08</c:v>
                </c:pt>
                <c:pt idx="1">
                  <c:v>257.52999999999997</c:v>
                </c:pt>
                <c:pt idx="2">
                  <c:v>188.03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AF76-4E2C-B9C7-E68EB666593A}"/>
            </c:ext>
          </c:extLst>
        </c:ser>
        <c:ser>
          <c:idx val="1"/>
          <c:order val="1"/>
          <c:tx>
            <c:strRef>
              <c:f>query9!$C$1</c:f>
              <c:strCache>
                <c:ptCount val="1"/>
                <c:pt idx="0">
                  <c:v>percentage</c:v>
                </c:pt>
              </c:strCache>
            </c:strRef>
          </c:tx>
          <c:dPt>
            <c:idx val="0"/>
            <c:bubble3D val="0"/>
            <c:spPr>
              <a:gradFill rotWithShape="1">
                <a:gsLst>
                  <a:gs pos="0">
                    <a:schemeClr val="accent1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1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1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  <a:tileRect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8-AF76-4E2C-B9C7-E68EB666593A}"/>
              </c:ext>
            </c:extLst>
          </c:dPt>
          <c:dPt>
            <c:idx val="1"/>
            <c:bubble3D val="0"/>
            <c:spPr>
              <a:gradFill rotWithShape="1">
                <a:gsLst>
                  <a:gs pos="0">
                    <a:schemeClr val="accent2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2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2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  <a:tileRect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A-AF76-4E2C-B9C7-E68EB666593A}"/>
              </c:ext>
            </c:extLst>
          </c:dPt>
          <c:dPt>
            <c:idx val="2"/>
            <c:bubble3D val="0"/>
            <c:spPr>
              <a:gradFill rotWithShape="1">
                <a:gsLst>
                  <a:gs pos="0">
                    <a:schemeClr val="accent3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3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3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  <a:tileRect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C-AF76-4E2C-B9C7-E68EB666593A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1"/>
            <c:showBubbleSize val="0"/>
            <c:showLeaderLines val="1"/>
            <c:leaderLines>
              <c:spPr>
                <a:ln w="9525">
                  <a:solidFill>
                    <a:schemeClr val="lt1">
                      <a:lumMod val="95000"/>
                      <a:alpha val="54000"/>
                    </a:schemeClr>
                  </a:solidFill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query9!$A$2:$A$4</c:f>
              <c:strCache>
                <c:ptCount val="3"/>
                <c:pt idx="0">
                  <c:v>Retailer</c:v>
                </c:pt>
                <c:pt idx="1">
                  <c:v>Direct</c:v>
                </c:pt>
                <c:pt idx="2">
                  <c:v>Distributor</c:v>
                </c:pt>
              </c:strCache>
            </c:strRef>
          </c:cat>
          <c:val>
            <c:numRef>
              <c:f>query9!$C$2:$C$4</c:f>
              <c:numCache>
                <c:formatCode>General</c:formatCode>
                <c:ptCount val="3"/>
                <c:pt idx="0">
                  <c:v>73.23</c:v>
                </c:pt>
                <c:pt idx="1">
                  <c:v>15.47</c:v>
                </c:pt>
                <c:pt idx="2">
                  <c:v>11.3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D-AF76-4E2C-B9C7-E68EB666593A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lt1">
                  <a:lumMod val="8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 flip="none" rotWithShape="1">
      <a:gsLst>
        <a:gs pos="0">
          <a:schemeClr val="dk1">
            <a:lumMod val="65000"/>
            <a:lumOff val="35000"/>
          </a:schemeClr>
        </a:gs>
        <a:gs pos="100000">
          <a:schemeClr val="dk1">
            <a:lumMod val="85000"/>
            <a:lumOff val="15000"/>
          </a:schemeClr>
        </a:gs>
      </a:gsLst>
      <a:path path="circle">
        <a:fillToRect l="50000" t="50000" r="50000" b="50000"/>
      </a:path>
      <a:tileRect/>
    </a:gra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91">
  <cs:axisTitle>
    <cs:lnRef idx="0"/>
    <cs:fillRef idx="0"/>
    <cs:effectRef idx="0"/>
    <cs:fontRef idx="minor">
      <a:schemeClr val="lt1">
        <a:lumMod val="75000"/>
      </a:schemeClr>
    </cs:fontRef>
    <cs:defRPr sz="900" kern="1200"/>
  </cs:axisTitle>
  <cs:categoryAxis>
    <cs:lnRef idx="0"/>
    <cs:fillRef idx="0"/>
    <cs:effectRef idx="0"/>
    <cs:fontRef idx="minor">
      <a:schemeClr val="lt1">
        <a:lumMod val="75000"/>
      </a:schemeClr>
    </cs:fontRef>
    <cs:defRPr sz="900" kern="1200"/>
  </cs:categoryAxis>
  <cs:chartArea>
    <cs:lnRef idx="0"/>
    <cs:fillRef idx="0"/>
    <cs:effectRef idx="0"/>
    <cs:fontRef idx="minor">
      <a:schemeClr val="lt1"/>
    </cs:fontRef>
    <cs:spPr>
      <a:solidFill>
        <a:schemeClr val="dk1">
          <a:lumMod val="75000"/>
          <a:lumOff val="25000"/>
        </a:schemeClr>
      </a:solidFill>
      <a:ln w="6350" cap="flat" cmpd="sng" algn="ctr">
        <a:solidFill>
          <a:schemeClr val="dk1">
            <a:tint val="75000"/>
          </a:schemeClr>
        </a:solidFill>
        <a:round/>
      </a:ln>
    </cs:spPr>
    <cs:defRPr sz="1000" kern="1200"/>
  </cs:chartArea>
  <cs:dataLabel>
    <cs:lnRef idx="0"/>
    <cs:fillRef idx="0">
      <cs:styleClr val="auto"/>
    </cs:fillRef>
    <cs:effectRef idx="0"/>
    <cs:fontRef idx="minor">
      <a:schemeClr val="lt1"/>
    </cs:fontRef>
    <cs:spPr>
      <a:solidFill>
        <a:schemeClr val="phClr">
          <a:alpha val="30000"/>
        </a:schemeClr>
      </a:solidFill>
      <a:ln>
        <a:solidFill>
          <a:schemeClr val="lt1">
            <a:alpha val="50000"/>
          </a:schemeClr>
        </a:solidFill>
        <a:round/>
      </a:ln>
      <a:effectLst>
        <a:outerShdw blurRad="63500" dist="88900" dir="2700000" algn="tl" rotWithShape="0">
          <a:prstClr val="black">
            <a:alpha val="40000"/>
          </a:prstClr>
        </a:outerShdw>
      </a:effectLst>
    </cs:spPr>
    <cs:defRPr sz="900" b="1" i="0" u="none" strike="noStrike" kern="1200" baseline="0"/>
  </cs:dataLabel>
  <cs:dataLabelCallout>
    <cs:lnRef idx="0"/>
    <cs:fillRef idx="0">
      <cs:styleClr val="auto"/>
    </cs:fillRef>
    <cs:effectRef idx="0"/>
    <cs:fontRef idx="minor">
      <a:schemeClr val="lt1"/>
    </cs:fontRef>
    <cs:spPr>
      <a:solidFill>
        <a:schemeClr val="phClr">
          <a:alpha val="30000"/>
        </a:schemeClr>
      </a:solidFill>
      <a:ln>
        <a:solidFill>
          <a:schemeClr val="lt1">
            <a:alpha val="50000"/>
          </a:schemeClr>
        </a:solidFill>
        <a:round/>
      </a:ln>
      <a:effectLst>
        <a:outerShdw blurRad="63500" dist="88900" dir="2700000" algn="tl" rotWithShape="0">
          <a:prstClr val="black">
            <a:alpha val="40000"/>
          </a:prstClr>
        </a:outerShdw>
      </a:effectLst>
    </cs:spPr>
    <cs:defRPr sz="900" b="1" i="0" u="none" strike="noStrike" kern="1200" baseline="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0">
      <cs:styleClr val="auto"/>
    </cs:fillRef>
    <cs:effectRef idx="0"/>
    <cs:fontRef idx="minor">
      <a:schemeClr val="tx1"/>
    </cs:fontRef>
    <cs:spPr>
      <a:solidFill>
        <a:schemeClr val="phClr">
          <a:alpha val="88000"/>
        </a:schemeClr>
      </a:solidFill>
      <a:ln>
        <a:solidFill>
          <a:schemeClr val="phClr">
            <a:lumMod val="50000"/>
          </a:schemeClr>
        </a:solidFill>
      </a:ln>
    </cs:spPr>
  </cs:dataPoint>
  <cs:dataPoint3D>
    <cs:lnRef idx="0">
      <cs:styleClr val="auto"/>
    </cs:lnRef>
    <cs:fillRef idx="0">
      <cs:styleClr val="auto"/>
    </cs:fillRef>
    <cs:effectRef idx="0"/>
    <cs:fontRef idx="minor">
      <a:schemeClr val="tx1"/>
    </cs:fontRef>
    <cs:spPr>
      <a:solidFill>
        <a:schemeClr val="phClr">
          <a:alpha val="88000"/>
        </a:schemeClr>
      </a:solidFill>
      <a:ln>
        <a:solidFill>
          <a:schemeClr val="phClr">
            <a:lumMod val="50000"/>
          </a:schemeClr>
        </a:solidFill>
      </a:ln>
      <a:scene3d>
        <a:camera prst="orthographicFront"/>
        <a:lightRig rig="threePt" dir="t"/>
      </a:scene3d>
      <a:sp3d prstMaterial="flat"/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dk1">
            <a:lumMod val="75000"/>
            <a:lumOff val="25000"/>
          </a:schemeClr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75000"/>
      </a:schemeClr>
    </cs:fontRef>
    <cs:spPr>
      <a:ln w="9525">
        <a:solidFill>
          <a:schemeClr val="dk1">
            <a:lumMod val="50000"/>
            <a:lumOff val="50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lt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75000"/>
          </a:schemeClr>
        </a:solidFill>
        <a:round/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solidFill>
        <a:schemeClr val="bg2">
          <a:lumMod val="75000"/>
          <a:alpha val="27000"/>
        </a:schemeClr>
      </a:solidFill>
      <a:sp3d/>
    </cs:spPr>
  </cs:floor>
  <cs:gridlineMajor>
    <cs:lnRef idx="0"/>
    <cs:fillRef idx="0"/>
    <cs:effectRef idx="0"/>
    <cs:fontRef idx="minor">
      <a:schemeClr val="tx1"/>
    </cs:fontRef>
    <cs:spPr>
      <a:ln w="9525">
        <a:solidFill>
          <a:schemeClr val="lt1">
            <a:lumMod val="50000"/>
          </a:schemeClr>
        </a:solidFill>
      </a:ln>
    </cs:spPr>
  </cs:gridlineMajor>
  <cs:gridlineMinor>
    <cs:lnRef idx="0"/>
    <cs:fillRef idx="0"/>
    <cs:effectRef idx="0"/>
    <cs:fontRef idx="minor">
      <a:schemeClr val="tx1"/>
    </cs:fontRef>
    <cs:spPr>
      <a:ln w="9525">
        <a:solidFill>
          <a:schemeClr val="lt1">
            <a:lumMod val="40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leaderLine>
  <cs:legend>
    <cs:lnRef idx="0"/>
    <cs:fillRef idx="0"/>
    <cs:effectRef idx="0"/>
    <cs:fontRef idx="minor">
      <a:schemeClr val="lt1">
        <a:lumMod val="75000"/>
      </a:schemeClr>
    </cs:fontRef>
    <cs:defRPr sz="900" kern="1200"/>
  </cs:legend>
  <cs:plotArea>
    <cs:lnRef idx="0"/>
    <cs:fillRef idx="0"/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lt1">
        <a:lumMod val="75000"/>
      </a:schemeClr>
    </cs:fontRef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seriesLine>
  <cs:title>
    <cs:lnRef idx="0"/>
    <cs:fillRef idx="0"/>
    <cs:effectRef idx="0"/>
    <cs:fontRef idx="minor">
      <a:schemeClr val="lt1"/>
    </cs:fontRef>
    <cs:defRPr sz="1800" b="0" kern="1200" cap="all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>
            <a:alpha val="50000"/>
          </a:schemeClr>
        </a:solidFill>
      </a:ln>
    </cs:spPr>
  </cs:trendline>
  <cs:trendlineLabel>
    <cs:lnRef idx="0"/>
    <cs:fillRef idx="0"/>
    <cs:effectRef idx="0"/>
    <cs:fontRef idx="minor">
      <a:schemeClr val="lt1">
        <a:lumMod val="7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>
          <a:lumMod val="85000"/>
        </a:schemeClr>
      </a:solidFill>
      <a:ln w="9525">
        <a:solidFill>
          <a:schemeClr val="dk1">
            <a:lumMod val="50000"/>
          </a:schemeClr>
        </a:solidFill>
        <a:round/>
      </a:ln>
    </cs:spPr>
  </cs:upBar>
  <cs:valueAxis>
    <cs:lnRef idx="0"/>
    <cs:fillRef idx="0"/>
    <cs:effectRef idx="0"/>
    <cs:fontRef idx="minor">
      <a:schemeClr val="lt1">
        <a:lumMod val="7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sp3d/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22">
  <cs:axisTitle>
    <cs:lnRef idx="0"/>
    <cs:fillRef idx="0"/>
    <cs:effectRef idx="0"/>
    <cs:fontRef idx="minor">
      <a:schemeClr val="lt1">
        <a:lumMod val="85000"/>
      </a:schemeClr>
    </cs:fontRef>
    <cs:defRPr sz="900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000" kern="1200"/>
  </cs:chartArea>
  <cs:dataLabel>
    <cs:lnRef idx="0"/>
    <cs:fillRef idx="0"/>
    <cs:effectRef idx="0"/>
    <cs:fontRef idx="minor">
      <a:schemeClr val="lt1">
        <a:lumMod val="8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ize="5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>
        <a:solidFill>
          <a:schemeClr val="lt1">
            <a:lumMod val="95000"/>
            <a:alpha val="5000"/>
          </a:schemeClr>
        </a:solidFill>
      </a:ln>
    </cs:spPr>
  </cs:gridlineMinor>
  <cs:hiLo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900" kern="1200"/>
  </cs:legend>
  <cs:plotArea>
    <cs:lnRef idx="0"/>
    <cs:fillRef idx="0"/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1600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900" kern="1200"/>
  </cs:valueAxis>
  <cs:wall>
    <cs:lnRef idx="0"/>
    <cs:fillRef idx="0"/>
    <cs:effectRef idx="0"/>
    <cs:fontRef idx="minor">
      <a:schemeClr val="tx1"/>
    </cs:fontRef>
  </cs:wall>
</cs:chartStyle>
</file>

<file path=ppt/charts/style3.xml><?xml version="1.0" encoding="utf-8"?>
<cs:chartStyle xmlns:cs="http://schemas.microsoft.com/office/drawing/2012/chartStyle" xmlns:a="http://schemas.openxmlformats.org/drawingml/2006/main" id="291">
  <cs:axisTitle>
    <cs:lnRef idx="0"/>
    <cs:fillRef idx="0"/>
    <cs:effectRef idx="0"/>
    <cs:fontRef idx="minor">
      <a:schemeClr val="lt1">
        <a:lumMod val="75000"/>
      </a:schemeClr>
    </cs:fontRef>
    <cs:defRPr sz="900" kern="1200"/>
  </cs:axisTitle>
  <cs:categoryAxis>
    <cs:lnRef idx="0"/>
    <cs:fillRef idx="0"/>
    <cs:effectRef idx="0"/>
    <cs:fontRef idx="minor">
      <a:schemeClr val="lt1">
        <a:lumMod val="75000"/>
      </a:schemeClr>
    </cs:fontRef>
    <cs:defRPr sz="900" kern="1200"/>
  </cs:categoryAxis>
  <cs:chartArea>
    <cs:lnRef idx="0"/>
    <cs:fillRef idx="0"/>
    <cs:effectRef idx="0"/>
    <cs:fontRef idx="minor">
      <a:schemeClr val="lt1"/>
    </cs:fontRef>
    <cs:spPr>
      <a:solidFill>
        <a:schemeClr val="dk1">
          <a:lumMod val="75000"/>
          <a:lumOff val="25000"/>
        </a:schemeClr>
      </a:solidFill>
      <a:ln w="6350" cap="flat" cmpd="sng" algn="ctr">
        <a:solidFill>
          <a:schemeClr val="dk1">
            <a:tint val="75000"/>
          </a:schemeClr>
        </a:solidFill>
        <a:round/>
      </a:ln>
    </cs:spPr>
    <cs:defRPr sz="1000" kern="1200"/>
  </cs:chartArea>
  <cs:dataLabel>
    <cs:lnRef idx="0"/>
    <cs:fillRef idx="0">
      <cs:styleClr val="auto"/>
    </cs:fillRef>
    <cs:effectRef idx="0"/>
    <cs:fontRef idx="minor">
      <a:schemeClr val="lt1"/>
    </cs:fontRef>
    <cs:spPr>
      <a:solidFill>
        <a:schemeClr val="phClr">
          <a:alpha val="30000"/>
        </a:schemeClr>
      </a:solidFill>
      <a:ln>
        <a:solidFill>
          <a:schemeClr val="lt1">
            <a:alpha val="50000"/>
          </a:schemeClr>
        </a:solidFill>
        <a:round/>
      </a:ln>
      <a:effectLst>
        <a:outerShdw blurRad="63500" dist="88900" dir="2700000" algn="tl" rotWithShape="0">
          <a:prstClr val="black">
            <a:alpha val="40000"/>
          </a:prstClr>
        </a:outerShdw>
      </a:effectLst>
    </cs:spPr>
    <cs:defRPr sz="900" b="1" i="0" u="none" strike="noStrike" kern="1200" baseline="0"/>
  </cs:dataLabel>
  <cs:dataLabelCallout>
    <cs:lnRef idx="0"/>
    <cs:fillRef idx="0">
      <cs:styleClr val="auto"/>
    </cs:fillRef>
    <cs:effectRef idx="0"/>
    <cs:fontRef idx="minor">
      <a:schemeClr val="lt1"/>
    </cs:fontRef>
    <cs:spPr>
      <a:solidFill>
        <a:schemeClr val="phClr">
          <a:alpha val="30000"/>
        </a:schemeClr>
      </a:solidFill>
      <a:ln>
        <a:solidFill>
          <a:schemeClr val="lt1">
            <a:alpha val="50000"/>
          </a:schemeClr>
        </a:solidFill>
        <a:round/>
      </a:ln>
      <a:effectLst>
        <a:outerShdw blurRad="63500" dist="88900" dir="2700000" algn="tl" rotWithShape="0">
          <a:prstClr val="black">
            <a:alpha val="40000"/>
          </a:prstClr>
        </a:outerShdw>
      </a:effectLst>
    </cs:spPr>
    <cs:defRPr sz="900" b="1" i="0" u="none" strike="noStrike" kern="1200" baseline="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0">
      <cs:styleClr val="auto"/>
    </cs:fillRef>
    <cs:effectRef idx="0"/>
    <cs:fontRef idx="minor">
      <a:schemeClr val="tx1"/>
    </cs:fontRef>
    <cs:spPr>
      <a:solidFill>
        <a:schemeClr val="phClr">
          <a:alpha val="88000"/>
        </a:schemeClr>
      </a:solidFill>
      <a:ln>
        <a:solidFill>
          <a:schemeClr val="phClr">
            <a:lumMod val="50000"/>
          </a:schemeClr>
        </a:solidFill>
      </a:ln>
    </cs:spPr>
  </cs:dataPoint>
  <cs:dataPoint3D>
    <cs:lnRef idx="0">
      <cs:styleClr val="auto"/>
    </cs:lnRef>
    <cs:fillRef idx="0">
      <cs:styleClr val="auto"/>
    </cs:fillRef>
    <cs:effectRef idx="0"/>
    <cs:fontRef idx="minor">
      <a:schemeClr val="tx1"/>
    </cs:fontRef>
    <cs:spPr>
      <a:solidFill>
        <a:schemeClr val="phClr">
          <a:alpha val="88000"/>
        </a:schemeClr>
      </a:solidFill>
      <a:ln>
        <a:solidFill>
          <a:schemeClr val="phClr">
            <a:lumMod val="50000"/>
          </a:schemeClr>
        </a:solidFill>
      </a:ln>
      <a:scene3d>
        <a:camera prst="orthographicFront"/>
        <a:lightRig rig="threePt" dir="t"/>
      </a:scene3d>
      <a:sp3d prstMaterial="flat"/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dk1">
            <a:lumMod val="75000"/>
            <a:lumOff val="25000"/>
          </a:schemeClr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75000"/>
      </a:schemeClr>
    </cs:fontRef>
    <cs:spPr>
      <a:ln w="9525">
        <a:solidFill>
          <a:schemeClr val="dk1">
            <a:lumMod val="50000"/>
            <a:lumOff val="50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lt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75000"/>
          </a:schemeClr>
        </a:solidFill>
        <a:round/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solidFill>
        <a:schemeClr val="bg2">
          <a:lumMod val="75000"/>
          <a:alpha val="27000"/>
        </a:schemeClr>
      </a:solidFill>
      <a:sp3d/>
    </cs:spPr>
  </cs:floor>
  <cs:gridlineMajor>
    <cs:lnRef idx="0"/>
    <cs:fillRef idx="0"/>
    <cs:effectRef idx="0"/>
    <cs:fontRef idx="minor">
      <a:schemeClr val="tx1"/>
    </cs:fontRef>
    <cs:spPr>
      <a:ln w="9525">
        <a:solidFill>
          <a:schemeClr val="lt1">
            <a:lumMod val="50000"/>
          </a:schemeClr>
        </a:solidFill>
      </a:ln>
    </cs:spPr>
  </cs:gridlineMajor>
  <cs:gridlineMinor>
    <cs:lnRef idx="0"/>
    <cs:fillRef idx="0"/>
    <cs:effectRef idx="0"/>
    <cs:fontRef idx="minor">
      <a:schemeClr val="tx1"/>
    </cs:fontRef>
    <cs:spPr>
      <a:ln w="9525">
        <a:solidFill>
          <a:schemeClr val="lt1">
            <a:lumMod val="40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leaderLine>
  <cs:legend>
    <cs:lnRef idx="0"/>
    <cs:fillRef idx="0"/>
    <cs:effectRef idx="0"/>
    <cs:fontRef idx="minor">
      <a:schemeClr val="lt1">
        <a:lumMod val="75000"/>
      </a:schemeClr>
    </cs:fontRef>
    <cs:defRPr sz="900" kern="1200"/>
  </cs:legend>
  <cs:plotArea>
    <cs:lnRef idx="0"/>
    <cs:fillRef idx="0"/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lt1">
        <a:lumMod val="75000"/>
      </a:schemeClr>
    </cs:fontRef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seriesLine>
  <cs:title>
    <cs:lnRef idx="0"/>
    <cs:fillRef idx="0"/>
    <cs:effectRef idx="0"/>
    <cs:fontRef idx="minor">
      <a:schemeClr val="lt1"/>
    </cs:fontRef>
    <cs:defRPr sz="1800" b="0" kern="1200" cap="all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>
            <a:alpha val="50000"/>
          </a:schemeClr>
        </a:solidFill>
      </a:ln>
    </cs:spPr>
  </cs:trendline>
  <cs:trendlineLabel>
    <cs:lnRef idx="0"/>
    <cs:fillRef idx="0"/>
    <cs:effectRef idx="0"/>
    <cs:fontRef idx="minor">
      <a:schemeClr val="lt1">
        <a:lumMod val="7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>
          <a:lumMod val="85000"/>
        </a:schemeClr>
      </a:solidFill>
      <a:ln w="9525">
        <a:solidFill>
          <a:schemeClr val="dk1">
            <a:lumMod val="50000"/>
          </a:schemeClr>
        </a:solidFill>
        <a:round/>
      </a:ln>
    </cs:spPr>
  </cs:upBar>
  <cs:valueAxis>
    <cs:lnRef idx="0"/>
    <cs:fillRef idx="0"/>
    <cs:effectRef idx="0"/>
    <cs:fontRef idx="minor">
      <a:schemeClr val="lt1">
        <a:lumMod val="7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sp3d/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9">
  <cs:axisTitle>
    <cs:lnRef idx="0"/>
    <cs:fillRef idx="0"/>
    <cs:effectRef idx="0"/>
    <cs:fontRef idx="minor">
      <a:schemeClr val="lt1">
        <a:lumMod val="85000"/>
      </a:schemeClr>
    </cs:fontRef>
    <cs:defRPr sz="900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000" kern="1200"/>
  </cs:chartArea>
  <cs:dataLabel>
    <cs:lnRef idx="0"/>
    <cs:fillRef idx="0"/>
    <cs:effectRef idx="0"/>
    <cs:fontRef idx="minor">
      <a:schemeClr val="lt1">
        <a:lumMod val="8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lt1"/>
    </cs:fontRef>
  </cs:dataPoint>
  <cs:dataPoint3D>
    <cs:lnRef idx="0"/>
    <cs:fillRef idx="3">
      <cs:styleClr val="auto"/>
    </cs:fillRef>
    <cs:effectRef idx="3"/>
    <cs:fontRef idx="minor">
      <a:schemeClr val="lt1"/>
    </cs:fontRef>
  </cs:dataPoint3D>
  <cs:dataPointLine>
    <cs:lnRef idx="0">
      <cs:styleClr val="auto"/>
    </cs:lnRef>
    <cs:fillRef idx="3"/>
    <cs:effectRef idx="3"/>
    <cs:fontRef idx="minor">
      <a:schemeClr val="lt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lt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lt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lt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</cs:gridlineMajor>
  <cs:gridlineMinor>
    <cs:lnRef idx="0"/>
    <cs:fillRef idx="0"/>
    <cs:effectRef idx="0"/>
    <cs:fontRef idx="minor">
      <a:schemeClr val="lt1"/>
    </cs:fontRef>
    <cs:spPr>
      <a:ln>
        <a:solidFill>
          <a:schemeClr val="lt1">
            <a:lumMod val="95000"/>
            <a:alpha val="5000"/>
          </a:schemeClr>
        </a:solidFill>
      </a:ln>
    </cs:spPr>
  </cs:gridlineMinor>
  <cs:hiLo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900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1600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900" kern="1200"/>
  </cs:trendlineLabel>
  <cs:upBar>
    <cs:lnRef idx="0"/>
    <cs:fillRef idx="0"/>
    <cs:effectRef idx="0"/>
    <cs:fontRef idx="minor">
      <a:schemeClr val="lt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900" kern="1200"/>
  </cs:valueAxis>
  <cs:wall>
    <cs:lnRef idx="0"/>
    <cs:fillRef idx="0"/>
    <cs:effectRef idx="0"/>
    <cs:fontRef idx="minor">
      <a:schemeClr val="lt1"/>
    </cs:fontRef>
  </cs:wall>
</cs:chartStyle>
</file>

<file path=ppt/charts/style5.xml><?xml version="1.0" encoding="utf-8"?>
<cs:chartStyle xmlns:cs="http://schemas.microsoft.com/office/drawing/2012/chartStyle" xmlns:a="http://schemas.openxmlformats.org/drawingml/2006/main" id="257">
  <cs:axisTitle>
    <cs:lnRef idx="0"/>
    <cs:fillRef idx="0"/>
    <cs:effectRef idx="0"/>
    <cs:fontRef idx="minor">
      <a:schemeClr val="lt1">
        <a:lumMod val="85000"/>
      </a:schemeClr>
    </cs:fontRef>
    <cs:defRPr sz="900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000" kern="1200"/>
  </cs:chartArea>
  <cs:dataLabel>
    <cs:lnRef idx="0"/>
    <cs:fillRef idx="0"/>
    <cs:effectRef idx="0"/>
    <cs:fontRef idx="minor">
      <a:schemeClr val="lt1">
        <a:lumMod val="8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>
        <a:solidFill>
          <a:schemeClr val="lt1">
            <a:lumMod val="95000"/>
            <a:alpha val="5000"/>
          </a:schemeClr>
        </a:solidFill>
      </a:ln>
    </cs:spPr>
  </cs:gridlineMinor>
  <cs:hiLo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900" kern="1200"/>
  </cs:legend>
  <cs:plotArea>
    <cs:lnRef idx="0"/>
    <cs:fillRef idx="0"/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1600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900" kern="1200"/>
  </cs:valueAxis>
  <cs:wall>
    <cs:lnRef idx="0"/>
    <cs:fillRef idx="0"/>
    <cs:effectRef idx="0"/>
    <cs:fontRef idx="minor">
      <a:schemeClr val="tx1"/>
    </cs:fontRef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36F888-02B2-43B2-8422-351F5372D22F}" type="datetimeFigureOut">
              <a:rPr lang="en-IN" smtClean="0"/>
              <a:t>23-03-2026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53DC1E-610F-41D1-9BF2-5A29367759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68478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bit.ly/3A1uf1Q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bit.ly/2TtBDfr" TargetMode="Externa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9;p2"/>
          <p:cNvPicPr/>
          <p:nvPr/>
        </p:nvPicPr>
        <p:blipFill>
          <a:blip r:embed="rId2"/>
          <a:srcRect t="7816" b="7816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1897560" y="2496960"/>
            <a:ext cx="6648480" cy="24177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77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4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IG_NUMBER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oogle Shape;45;p11"/>
          <p:cNvPicPr/>
          <p:nvPr/>
        </p:nvPicPr>
        <p:blipFill>
          <a:blip r:embed="rId2"/>
          <a:srcRect t="7816" b="7816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1791000" y="1755360"/>
            <a:ext cx="5562000" cy="1044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6000" b="0" u="none" strike="noStrike">
                <a:solidFill>
                  <a:schemeClr val="lt1"/>
                </a:solidFill>
                <a:effectLst/>
                <a:uFillTx/>
                <a:latin typeface="Zalando Sans SemiExpanded Medium"/>
                <a:ea typeface="Zalando Sans SemiExpanded Medium"/>
              </a:rPr>
              <a:t>xx%</a:t>
            </a:r>
            <a:endParaRPr lang="fr-FR" sz="6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1_1_1_1_1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oogle Shape;50;p13"/>
          <p:cNvPicPr/>
          <p:nvPr/>
        </p:nvPicPr>
        <p:blipFill>
          <a:blip r:embed="rId2"/>
          <a:srcRect t="7816" b="7816"/>
          <a:stretch/>
        </p:blipFill>
        <p:spPr>
          <a:xfrm rot="10800000">
            <a:off x="36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4606920" y="228600"/>
            <a:ext cx="4308480" cy="7696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9" name="PlaceHolder 2"/>
          <p:cNvSpPr>
            <a:spLocks noGrp="1"/>
          </p:cNvSpPr>
          <p:nvPr>
            <p:ph type="title"/>
          </p:nvPr>
        </p:nvSpPr>
        <p:spPr>
          <a:xfrm>
            <a:off x="630720" y="496800"/>
            <a:ext cx="690480" cy="4323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2100" b="0" u="none" strike="noStrike">
                <a:solidFill>
                  <a:schemeClr val="lt1"/>
                </a:solidFill>
                <a:effectLst/>
                <a:uFillTx/>
                <a:latin typeface="Zalando Sans SemiExpanded Medium"/>
                <a:ea typeface="Zalando Sans SemiExpanded Medium"/>
              </a:rPr>
              <a:t>xx%</a:t>
            </a:r>
            <a:endParaRPr lang="fr-FR" sz="21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3"/>
          <p:cNvSpPr>
            <a:spLocks noGrp="1"/>
          </p:cNvSpPr>
          <p:nvPr>
            <p:ph type="title"/>
          </p:nvPr>
        </p:nvSpPr>
        <p:spPr>
          <a:xfrm>
            <a:off x="630720" y="1027800"/>
            <a:ext cx="690480" cy="4323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2100" b="0" u="none" strike="noStrike">
                <a:solidFill>
                  <a:schemeClr val="lt1"/>
                </a:solidFill>
                <a:effectLst/>
                <a:uFillTx/>
                <a:latin typeface="Zalando Sans SemiExpanded Medium"/>
                <a:ea typeface="Zalando Sans SemiExpanded Medium"/>
              </a:rPr>
              <a:t>xx%</a:t>
            </a:r>
            <a:endParaRPr lang="fr-FR" sz="21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1" name="PlaceHolder 4"/>
          <p:cNvSpPr>
            <a:spLocks noGrp="1"/>
          </p:cNvSpPr>
          <p:nvPr>
            <p:ph type="title"/>
          </p:nvPr>
        </p:nvSpPr>
        <p:spPr>
          <a:xfrm>
            <a:off x="630720" y="1558800"/>
            <a:ext cx="690480" cy="4323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2100" b="0" u="none" strike="noStrike">
                <a:solidFill>
                  <a:schemeClr val="lt1"/>
                </a:solidFill>
                <a:effectLst/>
                <a:uFillTx/>
                <a:latin typeface="Zalando Sans SemiExpanded Medium"/>
                <a:ea typeface="Zalando Sans SemiExpanded Medium"/>
              </a:rPr>
              <a:t>xx%</a:t>
            </a:r>
            <a:endParaRPr lang="fr-FR" sz="21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2" name="PlaceHolder 5"/>
          <p:cNvSpPr>
            <a:spLocks noGrp="1"/>
          </p:cNvSpPr>
          <p:nvPr>
            <p:ph type="title"/>
          </p:nvPr>
        </p:nvSpPr>
        <p:spPr>
          <a:xfrm>
            <a:off x="630720" y="2089800"/>
            <a:ext cx="690480" cy="4323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2100" b="0" u="none" strike="noStrike">
                <a:solidFill>
                  <a:schemeClr val="lt1"/>
                </a:solidFill>
                <a:effectLst/>
                <a:uFillTx/>
                <a:latin typeface="Zalando Sans SemiExpanded Medium"/>
                <a:ea typeface="Zalando Sans SemiExpanded Medium"/>
              </a:rPr>
              <a:t>xx%</a:t>
            </a:r>
            <a:endParaRPr lang="fr-FR" sz="21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6"/>
          <p:cNvSpPr>
            <a:spLocks noGrp="1"/>
          </p:cNvSpPr>
          <p:nvPr>
            <p:ph type="title"/>
          </p:nvPr>
        </p:nvSpPr>
        <p:spPr>
          <a:xfrm>
            <a:off x="630720" y="2620800"/>
            <a:ext cx="690480" cy="4323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2100" b="0" u="none" strike="noStrike">
                <a:solidFill>
                  <a:schemeClr val="lt1"/>
                </a:solidFill>
                <a:effectLst/>
                <a:uFillTx/>
                <a:latin typeface="Zalando Sans SemiExpanded Medium"/>
                <a:ea typeface="Zalando Sans SemiExpanded Medium"/>
              </a:rPr>
              <a:t>xx%</a:t>
            </a:r>
            <a:endParaRPr lang="fr-FR" sz="21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7"/>
          <p:cNvSpPr>
            <a:spLocks noGrp="1"/>
          </p:cNvSpPr>
          <p:nvPr>
            <p:ph type="title"/>
          </p:nvPr>
        </p:nvSpPr>
        <p:spPr>
          <a:xfrm>
            <a:off x="630720" y="3152160"/>
            <a:ext cx="690480" cy="4323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2100" b="0" u="none" strike="noStrike">
                <a:solidFill>
                  <a:schemeClr val="lt1"/>
                </a:solidFill>
                <a:effectLst/>
                <a:uFillTx/>
                <a:latin typeface="Zalando Sans SemiExpanded Medium"/>
                <a:ea typeface="Zalando Sans SemiExpanded Medium"/>
              </a:rPr>
              <a:t>xx%</a:t>
            </a:r>
            <a:endParaRPr lang="fr-FR" sz="21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5" name="PlaceHolder 8"/>
          <p:cNvSpPr>
            <a:spLocks noGrp="1"/>
          </p:cNvSpPr>
          <p:nvPr>
            <p:ph type="title"/>
          </p:nvPr>
        </p:nvSpPr>
        <p:spPr>
          <a:xfrm>
            <a:off x="630720" y="3683160"/>
            <a:ext cx="690480" cy="4323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2100" b="0" u="none" strike="noStrike">
                <a:solidFill>
                  <a:schemeClr val="lt1"/>
                </a:solidFill>
                <a:effectLst/>
                <a:uFillTx/>
                <a:latin typeface="Zalando Sans SemiExpanded Medium"/>
                <a:ea typeface="Zalando Sans SemiExpanded Medium"/>
              </a:rPr>
              <a:t>xx%</a:t>
            </a:r>
            <a:endParaRPr lang="fr-FR" sz="21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6" name="PlaceHolder 9"/>
          <p:cNvSpPr>
            <a:spLocks noGrp="1"/>
          </p:cNvSpPr>
          <p:nvPr>
            <p:ph type="title"/>
          </p:nvPr>
        </p:nvSpPr>
        <p:spPr>
          <a:xfrm>
            <a:off x="630720" y="4214160"/>
            <a:ext cx="690480" cy="4323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2100" b="0" u="none" strike="noStrike">
                <a:solidFill>
                  <a:schemeClr val="lt1"/>
                </a:solidFill>
                <a:effectLst/>
                <a:uFillTx/>
                <a:latin typeface="Zalando Sans SemiExpanded Medium"/>
                <a:ea typeface="Zalando Sans SemiExpanded Medium"/>
              </a:rPr>
              <a:t>xx%</a:t>
            </a:r>
            <a:endParaRPr lang="fr-FR" sz="21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4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Google Shape;69;p14"/>
          <p:cNvPicPr/>
          <p:nvPr/>
        </p:nvPicPr>
        <p:blipFill>
          <a:blip r:embed="rId2"/>
          <a:srcRect t="7816" b="7816"/>
          <a:stretch/>
        </p:blipFill>
        <p:spPr>
          <a:xfrm flipH="1">
            <a:off x="36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228600" y="263880"/>
            <a:ext cx="7028280" cy="16455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ONE_COLUMN_TEXT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Google Shape;73;p15"/>
          <p:cNvPicPr/>
          <p:nvPr/>
        </p:nvPicPr>
        <p:blipFill>
          <a:blip r:embed="rId2"/>
          <a:srcRect t="7816" b="7816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235440" y="228600"/>
            <a:ext cx="4539960" cy="1093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5687280" y="0"/>
            <a:ext cx="3456720" cy="5143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6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Google Shape;78;p16"/>
          <p:cNvPicPr/>
          <p:nvPr/>
        </p:nvPicPr>
        <p:blipFill>
          <a:blip r:embed="rId2"/>
          <a:srcRect t="7816" b="7816"/>
          <a:stretch/>
        </p:blipFill>
        <p:spPr>
          <a:xfrm flipH="1">
            <a:off x="36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228600" y="228600"/>
            <a:ext cx="86864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5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Google Shape;87;p17"/>
          <p:cNvPicPr/>
          <p:nvPr/>
        </p:nvPicPr>
        <p:blipFill>
          <a:blip r:embed="rId2"/>
          <a:srcRect t="7816" b="7816"/>
          <a:stretch/>
        </p:blipFill>
        <p:spPr>
          <a:xfrm rot="10800000" flipH="1"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228600" y="228600"/>
            <a:ext cx="86864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10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Google Shape;98;p18"/>
          <p:cNvPicPr/>
          <p:nvPr/>
        </p:nvPicPr>
        <p:blipFill>
          <a:blip r:embed="rId2"/>
          <a:srcRect t="7816" b="7816"/>
          <a:stretch/>
        </p:blipFill>
        <p:spPr>
          <a:xfrm rot="10800000">
            <a:off x="36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228600" y="228600"/>
            <a:ext cx="86864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1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oogle Shape;101;p19"/>
          <p:cNvPicPr/>
          <p:nvPr/>
        </p:nvPicPr>
        <p:blipFill>
          <a:blip r:embed="rId2"/>
          <a:srcRect t="7816" b="7816"/>
          <a:stretch/>
        </p:blipFill>
        <p:spPr>
          <a:xfrm flipH="1">
            <a:off x="36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228600" y="228600"/>
            <a:ext cx="86864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3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Google Shape;104;p20"/>
          <p:cNvPicPr/>
          <p:nvPr/>
        </p:nvPicPr>
        <p:blipFill>
          <a:blip r:embed="rId2"/>
          <a:srcRect t="7816" b="7816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546120" y="382320"/>
            <a:ext cx="3543480" cy="2228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7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33" name="Google Shape;107;p20"/>
          <p:cNvSpPr/>
          <p:nvPr/>
        </p:nvSpPr>
        <p:spPr>
          <a:xfrm>
            <a:off x="3969720" y="4060800"/>
            <a:ext cx="4945320" cy="555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t">
            <a:noAutofit/>
          </a:bodyPr>
          <a:lstStyle/>
          <a:p>
            <a:pPr algn="r" defTabSz="914400">
              <a:lnSpc>
                <a:spcPct val="100000"/>
              </a:lnSpc>
              <a:spcBef>
                <a:spcPts val="300"/>
              </a:spcBef>
              <a:tabLst>
                <a:tab pos="0" algn="l"/>
              </a:tabLst>
            </a:pPr>
            <a:r>
              <a:rPr lang="en" sz="1000" b="1" u="none" strike="noStrike">
                <a:solidFill>
                  <a:schemeClr val="dk1"/>
                </a:solidFill>
                <a:effectLst/>
                <a:uFillTx/>
                <a:latin typeface="Albert Sans"/>
                <a:ea typeface="Albert Sans"/>
              </a:rPr>
              <a:t>CREDITS:</a:t>
            </a:r>
            <a:r>
              <a:rPr lang="en" sz="1000" b="0" u="none" strike="noStrike">
                <a:solidFill>
                  <a:schemeClr val="dk1"/>
                </a:solidFill>
                <a:effectLst/>
                <a:uFillTx/>
                <a:latin typeface="Albert Sans"/>
                <a:ea typeface="Albert Sans"/>
              </a:rPr>
              <a:t> This presentation template was created by </a:t>
            </a:r>
            <a:r>
              <a:rPr lang="en" sz="1000" b="1" u="sng" strike="noStrike">
                <a:solidFill>
                  <a:schemeClr val="dk1"/>
                </a:solidFill>
                <a:effectLst/>
                <a:uFillTx/>
                <a:latin typeface="Albert Sans"/>
                <a:ea typeface="Albert Sans"/>
                <a:hlinkClick r:id="rId3"/>
              </a:rPr>
              <a:t>Slidesgo</a:t>
            </a:r>
            <a:r>
              <a:rPr lang="en" sz="1000" b="0" u="none" strike="noStrike">
                <a:solidFill>
                  <a:schemeClr val="dk1"/>
                </a:solidFill>
                <a:effectLst/>
                <a:uFillTx/>
                <a:latin typeface="Albert Sans"/>
                <a:ea typeface="Albert Sans"/>
              </a:rPr>
              <a:t>, and includes icons, infographics &amp; images by </a:t>
            </a:r>
            <a:r>
              <a:rPr lang="en" sz="1000" b="1" u="sng" strike="noStrike">
                <a:solidFill>
                  <a:schemeClr val="dk1"/>
                </a:solidFill>
                <a:effectLst/>
                <a:uFillTx/>
                <a:latin typeface="Albert Sans"/>
                <a:ea typeface="Albert Sans"/>
                <a:hlinkClick r:id="rId4"/>
              </a:rPr>
              <a:t>Freepik</a:t>
            </a:r>
            <a:r>
              <a:rPr lang="en" sz="1000" b="0" u="sng" strike="noStrike">
                <a:solidFill>
                  <a:schemeClr val="dk1"/>
                </a:solidFill>
                <a:effectLst/>
                <a:uFillTx/>
                <a:latin typeface="Albert Sans"/>
                <a:ea typeface="Albert Sans"/>
              </a:rPr>
              <a:t> 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_HEADER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13;p3"/>
          <p:cNvPicPr/>
          <p:nvPr/>
        </p:nvPicPr>
        <p:blipFill>
          <a:blip r:embed="rId2"/>
          <a:srcRect t="7816" b="7816"/>
          <a:stretch/>
        </p:blipFill>
        <p:spPr>
          <a:xfrm rot="10800000" flipH="1"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3060720" y="3107520"/>
            <a:ext cx="5854320" cy="18072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5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36" name="PlaceHolder 2"/>
          <p:cNvSpPr>
            <a:spLocks noGrp="1"/>
          </p:cNvSpPr>
          <p:nvPr>
            <p:ph type="title"/>
          </p:nvPr>
        </p:nvSpPr>
        <p:spPr>
          <a:xfrm>
            <a:off x="228600" y="276120"/>
            <a:ext cx="1651680" cy="13705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8200" b="0" u="none" strike="noStrike">
                <a:solidFill>
                  <a:schemeClr val="dk1"/>
                </a:solidFill>
                <a:effectLst/>
                <a:uFillTx/>
                <a:latin typeface="Zalando Sans SemiExpanded Medium"/>
                <a:ea typeface="Zalando Sans SemiExpanded Medium"/>
              </a:rPr>
              <a:t>xx%</a:t>
            </a:r>
            <a:endParaRPr lang="fr-FR" sz="8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9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Google Shape;109;p21"/>
          <p:cNvPicPr/>
          <p:nvPr/>
        </p:nvPicPr>
        <p:blipFill>
          <a:blip r:embed="rId2"/>
          <a:srcRect t="7816" b="7816"/>
          <a:stretch/>
        </p:blipFill>
        <p:spPr>
          <a:xfrm rot="10800000" flipH="1"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9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Google Shape;111;p22"/>
          <p:cNvPicPr/>
          <p:nvPr/>
        </p:nvPicPr>
        <p:blipFill>
          <a:blip r:embed="rId2"/>
          <a:srcRect t="7816" b="7816"/>
          <a:stretch/>
        </p:blipFill>
        <p:spPr>
          <a:xfrm flipH="1">
            <a:off x="36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_AND_BODY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Google Shape;17;p4"/>
          <p:cNvPicPr/>
          <p:nvPr/>
        </p:nvPicPr>
        <p:blipFill>
          <a:blip r:embed="rId2"/>
          <a:srcRect t="7816" b="7816"/>
          <a:stretch/>
        </p:blipFill>
        <p:spPr>
          <a:xfrm flipH="1">
            <a:off x="36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228600" y="22860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41" name="PlaceHolder 2"/>
          <p:cNvSpPr>
            <a:spLocks noGrp="1"/>
          </p:cNvSpPr>
          <p:nvPr>
            <p:ph type="body"/>
          </p:nvPr>
        </p:nvSpPr>
        <p:spPr>
          <a:xfrm>
            <a:off x="228600" y="999360"/>
            <a:ext cx="7703640" cy="3416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_AND_TWO_COLUMNS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Google Shape;21;p5"/>
          <p:cNvPicPr/>
          <p:nvPr/>
        </p:nvPicPr>
        <p:blipFill>
          <a:blip r:embed="rId2"/>
          <a:srcRect t="7816" b="7816"/>
          <a:stretch/>
        </p:blipFill>
        <p:spPr>
          <a:xfrm rot="10800000">
            <a:off x="36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228600" y="228600"/>
            <a:ext cx="86864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_ONLY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Google Shape;28;p6"/>
          <p:cNvPicPr/>
          <p:nvPr/>
        </p:nvPicPr>
        <p:blipFill>
          <a:blip r:embed="rId2"/>
          <a:srcRect t="7816" b="7816"/>
          <a:stretch/>
        </p:blipFill>
        <p:spPr>
          <a:xfrm rot="10800000" flipH="1"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228600" y="228600"/>
            <a:ext cx="86864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46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ONE_COLUMN_TEXT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Google Shape;31;p7"/>
          <p:cNvPicPr/>
          <p:nvPr/>
        </p:nvPicPr>
        <p:blipFill>
          <a:blip r:embed="rId2"/>
          <a:srcRect t="7816" b="7816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476352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MAIN_POINT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Google Shape;35;p8"/>
          <p:cNvPicPr/>
          <p:nvPr/>
        </p:nvPicPr>
        <p:blipFill>
          <a:blip r:embed="rId2"/>
          <a:srcRect t="7816" b="7816"/>
          <a:stretch/>
        </p:blipFill>
        <p:spPr>
          <a:xfrm flipH="1">
            <a:off x="36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1768680" y="1307160"/>
            <a:ext cx="5606640" cy="25290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6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_TITLE_AND_DESCRIPTION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Google Shape;38;p9"/>
          <p:cNvPicPr/>
          <p:nvPr/>
        </p:nvPicPr>
        <p:blipFill>
          <a:blip r:embed="rId2"/>
          <a:srcRect t="7816" b="7816"/>
          <a:stretch/>
        </p:blipFill>
        <p:spPr>
          <a:xfrm rot="10800000">
            <a:off x="36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2135520" y="1441800"/>
            <a:ext cx="4872600" cy="11869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6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APTION_ONLY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body"/>
          </p:nvPr>
        </p:nvSpPr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54" name="PlaceHolder 2"/>
          <p:cNvSpPr>
            <a:spLocks noGrp="1"/>
          </p:cNvSpPr>
          <p:nvPr>
            <p:ph type="title"/>
          </p:nvPr>
        </p:nvSpPr>
        <p:spPr>
          <a:xfrm>
            <a:off x="720000" y="4014360"/>
            <a:ext cx="7703640" cy="57240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5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imple-light-2"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2_1"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117;p25"/>
          <p:cNvSpPr/>
          <p:nvPr/>
        </p:nvSpPr>
        <p:spPr>
          <a:xfrm>
            <a:off x="0" y="-10440"/>
            <a:ext cx="9143640" cy="1180440"/>
          </a:xfrm>
          <a:prstGeom prst="rect">
            <a:avLst/>
          </a:prstGeom>
          <a:solidFill>
            <a:schemeClr val="accen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713160" y="539640"/>
            <a:ext cx="7717320" cy="482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2_1_1"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120;p26"/>
          <p:cNvSpPr/>
          <p:nvPr/>
        </p:nvSpPr>
        <p:spPr>
          <a:xfrm>
            <a:off x="0" y="-10440"/>
            <a:ext cx="9143640" cy="1180440"/>
          </a:xfrm>
          <a:prstGeom prst="rect">
            <a:avLst/>
          </a:prstGeom>
          <a:solidFill>
            <a:schemeClr val="accen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728640" y="539640"/>
            <a:ext cx="3347280" cy="482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59" name="PlaceHolder 2"/>
          <p:cNvSpPr>
            <a:spLocks noGrp="1"/>
          </p:cNvSpPr>
          <p:nvPr>
            <p:ph type="title"/>
          </p:nvPr>
        </p:nvSpPr>
        <p:spPr>
          <a:xfrm>
            <a:off x="4977720" y="539640"/>
            <a:ext cx="3458160" cy="482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4.xml"/><Relationship Id="rId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22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71" r:id="rId1"/>
    <p:sldLayoutId id="2147483672" r:id="rId2"/>
    <p:sldLayoutId id="2147483673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9B0AA09-D0BD-4167-A3BC-0AFB939CE4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28850" y="1175657"/>
            <a:ext cx="6317189" cy="1771651"/>
          </a:xfrm>
        </p:spPr>
        <p:txBody>
          <a:bodyPr/>
          <a:lstStyle/>
          <a:p>
            <a:pPr algn="ctr"/>
            <a:r>
              <a:rPr lang="en-US" dirty="0"/>
              <a:t> 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Title: Consumer Goods Ad-hoc Insights Using SQL </a:t>
            </a:r>
            <a:r>
              <a:rPr lang="en-US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Subtitle:</a:t>
            </a:r>
            <a:br>
              <a:rPr lang="en-US" sz="4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3200" dirty="0"/>
              <a:t>Code basics Challenge 4</a:t>
            </a:r>
            <a:endParaRPr lang="en-IN" sz="3200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803A50F8-BE4B-17EF-A8D6-EEEA3F1138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92086" y="351063"/>
            <a:ext cx="6553953" cy="2016579"/>
          </a:xfrm>
        </p:spPr>
        <p:txBody>
          <a:bodyPr/>
          <a:lstStyle/>
          <a:p>
            <a:r>
              <a:rPr lang="en-US" dirty="0"/>
              <a:t>  </a:t>
            </a: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3ADC556-90B2-DBE4-AC26-CD429C05E274}"/>
              </a:ext>
            </a:extLst>
          </p:cNvPr>
          <p:cNvSpPr txBox="1"/>
          <p:nvPr/>
        </p:nvSpPr>
        <p:spPr>
          <a:xfrm>
            <a:off x="5298622" y="3448736"/>
            <a:ext cx="31350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Name: Sristu Sai Priya</a:t>
            </a:r>
          </a:p>
          <a:p>
            <a:pPr algn="ctr"/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Date:3/20/2026</a:t>
            </a:r>
            <a:endParaRPr lang="en-IN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8766B1D-43CA-7DA1-7186-3C7F36FE338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972" y="3967842"/>
            <a:ext cx="1209641" cy="101576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DBD0E37-2392-7CB7-0C95-CF0941CA84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86720" y="4140065"/>
            <a:ext cx="918638" cy="9128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237960" y="81644"/>
            <a:ext cx="4543200" cy="808264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3600" b="0" u="none" strike="noStrike" dirty="0">
                <a:solidFill>
                  <a:schemeClr val="dk1"/>
                </a:solidFill>
                <a:effectLst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BUSINESS CONTEXT:</a:t>
            </a:r>
          </a:p>
        </p:txBody>
      </p:sp>
      <p:sp>
        <p:nvSpPr>
          <p:cNvPr id="64" name="PlaceHolder 2"/>
          <p:cNvSpPr>
            <a:spLocks noGrp="1"/>
          </p:cNvSpPr>
          <p:nvPr>
            <p:ph type="subTitle"/>
          </p:nvPr>
        </p:nvSpPr>
        <p:spPr>
          <a:xfrm>
            <a:off x="228599" y="889907"/>
            <a:ext cx="5690508" cy="4024454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8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presentation delivers a concise, executive-ready analysis of consumer goods performance.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8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Analysis is based on ad-hoc SQL queries applied to the dataset.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8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Covers: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8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Dataset structure and tables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8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Ten analytical queries with visuals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8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Key insights and actionable recommendations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8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Purpose: Drive growth and improve margins through informed business decisions.</a:t>
            </a:r>
            <a:endParaRPr lang="en-US" sz="1800" b="0" u="none" strike="noStrike" dirty="0">
              <a:solidFill>
                <a:srgbClr val="FFFFFF"/>
              </a:solidFill>
              <a:effectLst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AA2D3D6-363E-7558-F3FE-F295597B7F4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25242" y="1869621"/>
            <a:ext cx="2880798" cy="192053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27D49D6-FCEE-021E-8966-B1FD17B30E9F}"/>
              </a:ext>
            </a:extLst>
          </p:cNvPr>
          <p:cNvSpPr txBox="1"/>
          <p:nvPr/>
        </p:nvSpPr>
        <p:spPr>
          <a:xfrm>
            <a:off x="759280" y="479984"/>
            <a:ext cx="423726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Title : Objective</a:t>
            </a:r>
            <a:endParaRPr lang="en-IN" sz="32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D1AE791-F093-E779-3288-3592E76C4A75}"/>
              </a:ext>
            </a:extLst>
          </p:cNvPr>
          <p:cNvSpPr txBox="1"/>
          <p:nvPr/>
        </p:nvSpPr>
        <p:spPr>
          <a:xfrm>
            <a:off x="432707" y="1247196"/>
            <a:ext cx="7013122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Deliver actionable insights on consumer goods performance.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Highlight key trends in products, segments, and sales channels.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Identify top customers and high/ low-cost products.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Support strategic decisions for growth and margin improvement.</a:t>
            </a:r>
            <a:endParaRPr lang="en-IN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Rectangle 68"/>
          <p:cNvSpPr/>
          <p:nvPr/>
        </p:nvSpPr>
        <p:spPr>
          <a:xfrm>
            <a:off x="6477030" y="3725756"/>
            <a:ext cx="3619080" cy="952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26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70" name="Rectangle 69"/>
          <p:cNvSpPr/>
          <p:nvPr/>
        </p:nvSpPr>
        <p:spPr>
          <a:xfrm>
            <a:off x="5048280" y="1905120"/>
            <a:ext cx="3619080" cy="276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fontScale="92500" lnSpcReduction="9999"/>
          </a:bodyPr>
          <a:lstStyle/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sz="12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A7E20D2-7EDE-26A7-5772-65206C5D3F54}"/>
              </a:ext>
            </a:extLst>
          </p:cNvPr>
          <p:cNvSpPr txBox="1"/>
          <p:nvPr/>
        </p:nvSpPr>
        <p:spPr>
          <a:xfrm>
            <a:off x="97971" y="1002090"/>
            <a:ext cx="7476444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 </a:t>
            </a:r>
            <a:r>
              <a:rPr lang="en-IN" sz="2000" dirty="0"/>
              <a:t>dim _ customer: contains customer-related data.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Dim _ product: contains product-related data.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Fact _ gross _ price: contains gross price information for each product.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Fact _ manufacturing _ cost: contains the cost incurred in the production of each product.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Fact _pre_ invoice_ deductions: contains pre-invoice deductions information for each product.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Fact _sales_ monthly: contains monthly sales data for each product</a:t>
            </a:r>
            <a:r>
              <a:rPr lang="en-IN" dirty="0"/>
              <a:t>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A735919-AC2F-5CD3-6684-26FF39A4B480}"/>
              </a:ext>
            </a:extLst>
          </p:cNvPr>
          <p:cNvSpPr txBox="1"/>
          <p:nvPr/>
        </p:nvSpPr>
        <p:spPr>
          <a:xfrm>
            <a:off x="643957" y="364395"/>
            <a:ext cx="31922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Dataset Overview:</a:t>
            </a:r>
            <a:endParaRPr lang="en-IN" sz="2800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228600" y="266760"/>
            <a:ext cx="8172450" cy="16473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90000"/>
          </a:bodyPr>
          <a:lstStyle/>
          <a:p>
            <a:r>
              <a:rPr lang="en-IN" sz="3600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Query-1:</a:t>
            </a:r>
            <a:br>
              <a:rPr lang="en-IN" dirty="0"/>
            </a:br>
            <a:r>
              <a:rPr lang="en-US" dirty="0"/>
              <a:t> </a:t>
            </a:r>
            <a:r>
              <a:rPr lang="en-US" sz="27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Provide the list of markets in which customer “ATLIQ- Exclusive</a:t>
            </a:r>
            <a:r>
              <a:rPr lang="en-US" sz="27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” </a:t>
            </a:r>
            <a:r>
              <a:rPr lang="en-US" sz="27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operates its business in the APAC region. </a:t>
            </a:r>
            <a:endParaRPr lang="fr-FR" sz="2700" b="0" u="none" strike="noStrike" dirty="0">
              <a:solidFill>
                <a:schemeClr val="dk1"/>
              </a:solidFill>
              <a:effectLst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B86BC64-D4D6-4B5C-6B8A-356D2655E0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833" y="2388870"/>
            <a:ext cx="4969364" cy="1934414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BFEFC84-174B-9874-13FA-96B4796E8426}"/>
              </a:ext>
            </a:extLst>
          </p:cNvPr>
          <p:cNvSpPr txBox="1"/>
          <p:nvPr/>
        </p:nvSpPr>
        <p:spPr>
          <a:xfrm>
            <a:off x="5830214" y="2260397"/>
            <a:ext cx="18873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66FFFF"/>
                </a:solidFill>
              </a:rPr>
              <a:t>Insights:</a:t>
            </a:r>
            <a:endParaRPr lang="en-IN" dirty="0">
              <a:solidFill>
                <a:srgbClr val="66FFFF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E914686-E6E9-7A4E-C59C-D6EEF2873F7E}"/>
              </a:ext>
            </a:extLst>
          </p:cNvPr>
          <p:cNvSpPr txBox="1"/>
          <p:nvPr/>
        </p:nvSpPr>
        <p:spPr>
          <a:xfrm>
            <a:off x="5830214" y="2629729"/>
            <a:ext cx="299191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ATLIQ Exclusive operates across multiple markets in the APAC region, indicating a strong regional presence and expansion strategy.</a:t>
            </a:r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Rectangle 73"/>
          <p:cNvSpPr/>
          <p:nvPr/>
        </p:nvSpPr>
        <p:spPr>
          <a:xfrm>
            <a:off x="367394" y="244930"/>
            <a:ext cx="1779813" cy="64497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0" u="none" strike="noStrike" dirty="0">
                <a:solidFill>
                  <a:schemeClr val="accent1"/>
                </a:solidFill>
                <a:effectLst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Query-2</a:t>
            </a:r>
            <a:r>
              <a:rPr lang="en-US" sz="3200" b="0" u="none" strike="noStrike" dirty="0">
                <a:solidFill>
                  <a:srgbClr val="FFFFFF"/>
                </a:solidFill>
                <a:effectLst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C3E679F-C3AB-D8D1-7BC1-FB381BE2505C}"/>
              </a:ext>
            </a:extLst>
          </p:cNvPr>
          <p:cNvSpPr txBox="1"/>
          <p:nvPr/>
        </p:nvSpPr>
        <p:spPr>
          <a:xfrm>
            <a:off x="367394" y="440875"/>
            <a:ext cx="8409212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sz="2800" b="0" i="0" u="none" strike="noStrike" baseline="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400" b="0" i="0" u="none" strike="noStrike" baseline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What is the percentage of unique product increase in 2021 vs. 2020? The final output contains these fields, unique_products_2020 unique_products_2021 percentage _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</a:t>
            </a:r>
            <a:r>
              <a:rPr lang="en-US" sz="2400" b="0" i="0" u="none" strike="noStrike" baseline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hg.</a:t>
            </a:r>
            <a:endParaRPr lang="en-IN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49BB4966-E35B-93CF-9647-48FE6D73AC6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85111488"/>
              </p:ext>
            </p:extLst>
          </p:nvPr>
        </p:nvGraphicFramePr>
        <p:xfrm>
          <a:off x="4963887" y="2403412"/>
          <a:ext cx="3722913" cy="249990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DDCA2E5C-32E3-C06F-53D0-31E9E469B79B}"/>
              </a:ext>
            </a:extLst>
          </p:cNvPr>
          <p:cNvSpPr txBox="1"/>
          <p:nvPr/>
        </p:nvSpPr>
        <p:spPr>
          <a:xfrm>
            <a:off x="457200" y="2387084"/>
            <a:ext cx="23268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66FFFF"/>
                </a:solidFill>
              </a:rPr>
              <a:t>Insights:</a:t>
            </a:r>
            <a:endParaRPr lang="en-IN" dirty="0">
              <a:solidFill>
                <a:srgbClr val="66FFFF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F383575-798C-6109-7558-3A49727AF0C5}"/>
              </a:ext>
            </a:extLst>
          </p:cNvPr>
          <p:cNvSpPr txBox="1"/>
          <p:nvPr/>
        </p:nvSpPr>
        <p:spPr>
          <a:xfrm>
            <a:off x="530679" y="2756416"/>
            <a:ext cx="388619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company achieved a 36.33% increase in unique products from 2020 to 2021, indicating strong product expansion and potential for higher market reach.</a:t>
            </a:r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DC9724-243E-19D6-FDB8-04B33F3A18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>
            <a:extLst>
              <a:ext uri="{FF2B5EF4-FFF2-40B4-BE49-F238E27FC236}">
                <a16:creationId xmlns:a16="http://schemas.microsoft.com/office/drawing/2014/main" id="{3F07526C-9EDF-68C0-AADD-D987698A2C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266761"/>
            <a:ext cx="2294164" cy="639476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90000"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3200" b="0" u="none" strike="noStrike" dirty="0">
                <a:solidFill>
                  <a:schemeClr val="accent1"/>
                </a:solidFill>
                <a:effectLst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Query-3:</a:t>
            </a:r>
          </a:p>
        </p:txBody>
      </p:sp>
      <p:sp>
        <p:nvSpPr>
          <p:cNvPr id="83" name="PlaceHolder 2">
            <a:extLst>
              <a:ext uri="{FF2B5EF4-FFF2-40B4-BE49-F238E27FC236}">
                <a16:creationId xmlns:a16="http://schemas.microsoft.com/office/drawing/2014/main" id="{7CF90E50-127C-A27C-BE64-68910218B9CF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228600" y="400050"/>
            <a:ext cx="8474529" cy="25880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Provide a report with all the unique product counts for each segment and sort them in descending order of product counts. The final output contains 2 fields, segment product _ count .</a:t>
            </a:r>
            <a:endParaRPr lang="en-US" sz="2400" b="0" u="none" strike="noStrike" dirty="0">
              <a:solidFill>
                <a:srgbClr val="FFFFFF"/>
              </a:solidFill>
              <a:effectLst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8137EA94-9991-279F-AEA4-6021D5B34AA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38519892"/>
              </p:ext>
            </p:extLst>
          </p:nvPr>
        </p:nvGraphicFramePr>
        <p:xfrm>
          <a:off x="4792436" y="2452513"/>
          <a:ext cx="3910693" cy="25227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26A605F1-080A-B3AC-46A9-EFCAA9FAEC87}"/>
              </a:ext>
            </a:extLst>
          </p:cNvPr>
          <p:cNvSpPr txBox="1"/>
          <p:nvPr/>
        </p:nvSpPr>
        <p:spPr>
          <a:xfrm>
            <a:off x="547007" y="2330999"/>
            <a:ext cx="21880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66FFFF"/>
                </a:solidFill>
              </a:rPr>
              <a:t>Insights:</a:t>
            </a:r>
            <a:endParaRPr lang="en-IN" dirty="0">
              <a:solidFill>
                <a:srgbClr val="66FFFF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0533A4F-0F72-9D95-54A9-FFB6B9FF789E}"/>
              </a:ext>
            </a:extLst>
          </p:cNvPr>
          <p:cNvSpPr txBox="1"/>
          <p:nvPr/>
        </p:nvSpPr>
        <p:spPr>
          <a:xfrm>
            <a:off x="440871" y="2766975"/>
            <a:ext cx="363310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Network segment leads with the highest product count (129), followed by Accessories and Peripherals, indicating a strong focus on connectivity-related products</a:t>
            </a:r>
            <a:r>
              <a:rPr lang="en-US" dirty="0"/>
              <a:t>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560362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2DA25F-7039-F11B-0AAC-12BB8E4AED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>
            <a:extLst>
              <a:ext uri="{FF2B5EF4-FFF2-40B4-BE49-F238E27FC236}">
                <a16:creationId xmlns:a16="http://schemas.microsoft.com/office/drawing/2014/main" id="{2E525DD1-237C-1F64-A904-EAC731C4A2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" y="73479"/>
            <a:ext cx="8286750" cy="1840641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r>
              <a:rPr lang="en-IN" sz="3600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Query-4:</a:t>
            </a:r>
            <a:br>
              <a:rPr lang="en-IN" dirty="0"/>
            </a:br>
            <a:r>
              <a:rPr lang="en-US" sz="3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fr-FR" sz="3100" b="0" u="none" strike="noStrike" dirty="0">
              <a:solidFill>
                <a:schemeClr val="dk1"/>
              </a:solidFill>
              <a:effectLst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BE55395-4B03-7EBB-386C-161349EAF961}"/>
              </a:ext>
            </a:extLst>
          </p:cNvPr>
          <p:cNvSpPr txBox="1"/>
          <p:nvPr/>
        </p:nvSpPr>
        <p:spPr>
          <a:xfrm>
            <a:off x="187780" y="441867"/>
            <a:ext cx="790302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  <a:p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Which segment had the most increase in unique products in 2021 vs 2020? The final output contains these fields, segment product_count_2020 product_count_2021 difference .</a:t>
            </a:r>
            <a:endParaRPr lang="en-IN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1BC3782F-2C05-FC14-A1F6-F7F3BF36BA2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45574034"/>
              </p:ext>
            </p:extLst>
          </p:nvPr>
        </p:nvGraphicFramePr>
        <p:xfrm>
          <a:off x="4122964" y="1992086"/>
          <a:ext cx="4923065" cy="288465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894A0AB4-4B58-8163-EE29-615D176E8912}"/>
              </a:ext>
            </a:extLst>
          </p:cNvPr>
          <p:cNvSpPr txBox="1"/>
          <p:nvPr/>
        </p:nvSpPr>
        <p:spPr>
          <a:xfrm>
            <a:off x="334736" y="2196193"/>
            <a:ext cx="17471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66FFFF"/>
                </a:solidFill>
              </a:rPr>
              <a:t>Insights:</a:t>
            </a:r>
            <a:endParaRPr lang="en-IN" sz="2000" dirty="0">
              <a:solidFill>
                <a:srgbClr val="66FFFF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8033436-DBAB-4810-207A-DF94ED457BDB}"/>
              </a:ext>
            </a:extLst>
          </p:cNvPr>
          <p:cNvSpPr txBox="1"/>
          <p:nvPr/>
        </p:nvSpPr>
        <p:spPr>
          <a:xfrm>
            <a:off x="334737" y="2596303"/>
            <a:ext cx="357595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Accessories segment recorded the highest growth, increasing by 34 products from 2020 to 2021, indicating strong demand and strategic expansion in this category.</a:t>
            </a:r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753604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Rectangle 76"/>
          <p:cNvSpPr/>
          <p:nvPr/>
        </p:nvSpPr>
        <p:spPr>
          <a:xfrm>
            <a:off x="476280" y="1428840"/>
            <a:ext cx="3619080" cy="142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40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0D35197-66C3-4F4B-C630-2C7F5114F664}"/>
              </a:ext>
            </a:extLst>
          </p:cNvPr>
          <p:cNvSpPr txBox="1"/>
          <p:nvPr/>
        </p:nvSpPr>
        <p:spPr>
          <a:xfrm>
            <a:off x="342900" y="285749"/>
            <a:ext cx="26942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rgbClr val="66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Query- 5:</a:t>
            </a:r>
            <a:endParaRPr lang="en-IN" sz="3600" dirty="0">
              <a:solidFill>
                <a:srgbClr val="66FFF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28AEFD8-EAFA-A9C6-0451-3DD400FF4649}"/>
              </a:ext>
            </a:extLst>
          </p:cNvPr>
          <p:cNvSpPr txBox="1"/>
          <p:nvPr/>
        </p:nvSpPr>
        <p:spPr>
          <a:xfrm>
            <a:off x="342899" y="702130"/>
            <a:ext cx="7911193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  <a:p>
            <a:r>
              <a:rPr lang="en-US" dirty="0"/>
              <a:t> 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Get the products that have the highest and lowest manufacturing costs. The final output should contain these fields, product _ code, product, manufacturing _ cost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en-IN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AF7FAB6-7FDE-665F-AC25-BFC899B1E520}"/>
              </a:ext>
            </a:extLst>
          </p:cNvPr>
          <p:cNvSpPr txBox="1"/>
          <p:nvPr/>
        </p:nvSpPr>
        <p:spPr>
          <a:xfrm>
            <a:off x="5391302" y="1799539"/>
            <a:ext cx="22165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66FFFF"/>
                </a:solidFill>
              </a:rPr>
              <a:t>Insights:</a:t>
            </a:r>
            <a:endParaRPr lang="en-IN" dirty="0">
              <a:solidFill>
                <a:srgbClr val="66FFFF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900B2D4-A86E-01D5-B2A5-380B0B6F592B}"/>
              </a:ext>
            </a:extLst>
          </p:cNvPr>
          <p:cNvSpPr txBox="1"/>
          <p:nvPr/>
        </p:nvSpPr>
        <p:spPr>
          <a:xfrm>
            <a:off x="5086448" y="2168871"/>
            <a:ext cx="3985551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manufacturing cost ranges from 0.8654 to 263.4207, showing a significant variation across Products.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High-cost products may impact profitability, while low-cost products offer better margin Opportunities.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analysis supports pricing strategies and cost optimization decisions.</a:t>
            </a:r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8905F0A-0685-A7EB-8BE1-B2D2A2A109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133" y="2122005"/>
            <a:ext cx="4212771" cy="119941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FB44784-E8D1-761E-26E9-6A2C5FA38B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899" y="3509727"/>
            <a:ext cx="4278788" cy="127372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0D0870-B341-F603-4468-C4FDCEFEED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Rectangle 76">
            <a:extLst>
              <a:ext uri="{FF2B5EF4-FFF2-40B4-BE49-F238E27FC236}">
                <a16:creationId xmlns:a16="http://schemas.microsoft.com/office/drawing/2014/main" id="{28C64B21-FCB0-7258-9D00-531D6441929B}"/>
              </a:ext>
            </a:extLst>
          </p:cNvPr>
          <p:cNvSpPr/>
          <p:nvPr/>
        </p:nvSpPr>
        <p:spPr>
          <a:xfrm>
            <a:off x="476280" y="1428840"/>
            <a:ext cx="3619080" cy="142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40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B79F40A-5CC6-3E7C-3102-23323E776581}"/>
              </a:ext>
            </a:extLst>
          </p:cNvPr>
          <p:cNvSpPr txBox="1"/>
          <p:nvPr/>
        </p:nvSpPr>
        <p:spPr>
          <a:xfrm>
            <a:off x="242628" y="89807"/>
            <a:ext cx="28516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rgbClr val="66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Query-6:</a:t>
            </a:r>
            <a:endParaRPr lang="en-IN" sz="3600" dirty="0">
              <a:solidFill>
                <a:srgbClr val="66FFF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E154EEE-EC89-FC44-EEB4-36981990A5DA}"/>
              </a:ext>
            </a:extLst>
          </p:cNvPr>
          <p:cNvSpPr txBox="1"/>
          <p:nvPr/>
        </p:nvSpPr>
        <p:spPr>
          <a:xfrm>
            <a:off x="367393" y="400051"/>
            <a:ext cx="8533979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Generate a report which contains the top 5 customers who received an average high pre _ invoice _ discount_ pct for the fiscal year 2021 and in the Indian market. The final output contains these fields, customer _ code, customer ,average _ discount _ percentage.</a:t>
            </a:r>
            <a:endParaRPr lang="en-IN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8F4BA35-D1CC-4175-B09C-AD11E9D8E0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628" y="2721031"/>
            <a:ext cx="3545601" cy="165798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2FB4098-A692-B0E8-EA68-80E5A2757CE2}"/>
              </a:ext>
            </a:extLst>
          </p:cNvPr>
          <p:cNvSpPr txBox="1"/>
          <p:nvPr/>
        </p:nvSpPr>
        <p:spPr>
          <a:xfrm>
            <a:off x="5219685" y="2425343"/>
            <a:ext cx="1943100" cy="3813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66FFFF"/>
                </a:solidFill>
              </a:rPr>
              <a:t>Insights:</a:t>
            </a:r>
            <a:endParaRPr lang="en-IN" dirty="0">
              <a:solidFill>
                <a:srgbClr val="66FFFF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B68E5E8-1508-E960-16B5-3B94BE289CC3}"/>
              </a:ext>
            </a:extLst>
          </p:cNvPr>
          <p:cNvSpPr txBox="1"/>
          <p:nvPr/>
        </p:nvSpPr>
        <p:spPr>
          <a:xfrm>
            <a:off x="5355773" y="2857320"/>
            <a:ext cx="310242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top customers in India receive higher average discounts, indicating a strategy focused on customer retention and high-volume sales.</a:t>
            </a:r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487871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237960" y="228600"/>
            <a:ext cx="4543200" cy="1095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3600" b="0" u="none" strike="noStrike" dirty="0">
                <a:solidFill>
                  <a:srgbClr val="66FFFF"/>
                </a:solidFill>
                <a:effectLst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Query-7: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B4E8958-D7B3-E41F-4A8F-014AA1AE1F1C}"/>
              </a:ext>
            </a:extLst>
          </p:cNvPr>
          <p:cNvSpPr txBox="1"/>
          <p:nvPr/>
        </p:nvSpPr>
        <p:spPr>
          <a:xfrm>
            <a:off x="310243" y="400050"/>
            <a:ext cx="8458199" cy="1908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  <a:p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Get the complete report of the Gross sales amount for the customer “ATLIQ-Exclusive” for each month 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analysis helps to get an idea of low and high-performing months and take strategic decisions. The final report contains these columns: Month, Year ,Gross sales Amount .</a:t>
            </a:r>
            <a:endParaRPr lang="en-IN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61EE3F0-A51E-D07E-9CB7-2A23CD57D3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0357" y="2571750"/>
            <a:ext cx="4226957" cy="224517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5EEB018-6596-9306-64F3-ABC87EDFE9F1}"/>
              </a:ext>
            </a:extLst>
          </p:cNvPr>
          <p:cNvSpPr txBox="1"/>
          <p:nvPr/>
        </p:nvSpPr>
        <p:spPr>
          <a:xfrm>
            <a:off x="5249636" y="2375807"/>
            <a:ext cx="23186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66FFFF"/>
                </a:solidFill>
              </a:rPr>
              <a:t>Insights:</a:t>
            </a:r>
            <a:endParaRPr lang="en-IN" dirty="0">
              <a:solidFill>
                <a:srgbClr val="66FFFF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3363516-FBEC-4622-9604-EF97549C7507}"/>
              </a:ext>
            </a:extLst>
          </p:cNvPr>
          <p:cNvSpPr txBox="1"/>
          <p:nvPr/>
        </p:nvSpPr>
        <p:spPr>
          <a:xfrm>
            <a:off x="5184321" y="2812681"/>
            <a:ext cx="382088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 every year, including 2021, November has the highest sales among all Months.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Sales increase throughout the year and reach their peak in November, with 2021 showing the highest overall sales.</a:t>
            </a:r>
            <a:endParaRPr lang="en-IN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05E5AF-AD27-926D-3D98-59B05BEBD4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>
            <a:extLst>
              <a:ext uri="{FF2B5EF4-FFF2-40B4-BE49-F238E27FC236}">
                <a16:creationId xmlns:a16="http://schemas.microsoft.com/office/drawing/2014/main" id="{E4A41B39-0E75-E6EE-F179-B73904E1FB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960" y="228600"/>
            <a:ext cx="4543200" cy="1095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3600" b="0" u="none" strike="noStrike" dirty="0">
                <a:solidFill>
                  <a:srgbClr val="66FFFF"/>
                </a:solidFill>
                <a:effectLst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Query-8: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7C575AB-292D-6D26-8589-752268A30B6C}"/>
              </a:ext>
            </a:extLst>
          </p:cNvPr>
          <p:cNvSpPr txBox="1"/>
          <p:nvPr/>
        </p:nvSpPr>
        <p:spPr>
          <a:xfrm>
            <a:off x="351063" y="514708"/>
            <a:ext cx="8426051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IN" sz="1600" b="0" i="0" u="none" strike="noStrike" baseline="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endParaRPr lang="en-US" sz="2000" b="0" i="0" u="none" strike="noStrike" baseline="0" dirty="0">
              <a:latin typeface="Arial" panose="020B0604020202020204" pitchFamily="34" charset="0"/>
            </a:endParaRPr>
          </a:p>
          <a:p>
            <a:r>
              <a:rPr lang="en-US" sz="2000" b="0" i="0" u="none" strike="noStrike" baseline="0" dirty="0">
                <a:latin typeface="Arial" panose="020B0604020202020204" pitchFamily="34" charset="0"/>
              </a:rPr>
              <a:t>In which quarter of 2020, got the maximum total _ sold_ quantity? The final output contains these fields sorted by the total _ sold _ quantity, Quarter total _ sold _ quantity . </a:t>
            </a:r>
            <a:endParaRPr lang="en-IN" sz="2000" dirty="0"/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38058C1D-F66E-1029-0B43-AD2A0650419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45390657"/>
              </p:ext>
            </p:extLst>
          </p:nvPr>
        </p:nvGraphicFramePr>
        <p:xfrm>
          <a:off x="156635" y="2202418"/>
          <a:ext cx="3840326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E784ACD3-A577-7B02-4BE1-BD7D44B8DC84}"/>
              </a:ext>
            </a:extLst>
          </p:cNvPr>
          <p:cNvSpPr txBox="1"/>
          <p:nvPr/>
        </p:nvSpPr>
        <p:spPr>
          <a:xfrm>
            <a:off x="4838310" y="2202418"/>
            <a:ext cx="23299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66FFFF"/>
                </a:solidFill>
              </a:rPr>
              <a:t>Insights:</a:t>
            </a:r>
            <a:endParaRPr lang="en-IN" dirty="0">
              <a:solidFill>
                <a:srgbClr val="66FFFF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F7F5AA1-2276-F962-768D-E7162DD2CA2F}"/>
              </a:ext>
            </a:extLst>
          </p:cNvPr>
          <p:cNvSpPr txBox="1"/>
          <p:nvPr/>
        </p:nvSpPr>
        <p:spPr>
          <a:xfrm>
            <a:off x="4931229" y="2571750"/>
            <a:ext cx="351064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Q1 recorded the highest sales in 2020, indicating a peak in demand during this period.</a:t>
            </a:r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093874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228600" y="266760"/>
            <a:ext cx="7029000" cy="16473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3600" b="0" u="none" strike="noStrike" dirty="0">
                <a:solidFill>
                  <a:srgbClr val="66FFFF"/>
                </a:solidFill>
                <a:effectLst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Query-9: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08D7917-2429-1A1C-46F2-AF69438E27FA}"/>
              </a:ext>
            </a:extLst>
          </p:cNvPr>
          <p:cNvSpPr txBox="1"/>
          <p:nvPr/>
        </p:nvSpPr>
        <p:spPr>
          <a:xfrm>
            <a:off x="314325" y="744569"/>
            <a:ext cx="8515350" cy="1261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IN" sz="1600" b="0" i="0" u="none" strike="noStrike" baseline="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r>
              <a:rPr lang="en-US" sz="2000" b="0" i="0" u="none" strike="noStrike" baseline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Which channel helped to bring more gross sales in the fiscal year 2021 and the percentage of contribution? The final output contains these fields, channel gross _sales _ </a:t>
            </a:r>
            <a:r>
              <a:rPr lang="en-US" sz="2000" b="0" i="0" u="none" strike="noStrike" baseline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mln</a:t>
            </a:r>
            <a:r>
              <a:rPr lang="en-US" sz="2000" b="0" i="0" u="none" strike="noStrike" baseline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percentage.</a:t>
            </a:r>
            <a:endParaRPr lang="en-IN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F12F02F1-74DF-DE8F-625C-7819FC2BAF1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50948500"/>
              </p:ext>
            </p:extLst>
          </p:nvPr>
        </p:nvGraphicFramePr>
        <p:xfrm>
          <a:off x="146958" y="2177023"/>
          <a:ext cx="3755572" cy="246678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C87C76BC-ABAE-541E-5895-275C5D48B769}"/>
              </a:ext>
            </a:extLst>
          </p:cNvPr>
          <p:cNvSpPr txBox="1"/>
          <p:nvPr/>
        </p:nvSpPr>
        <p:spPr>
          <a:xfrm>
            <a:off x="4473579" y="2085768"/>
            <a:ext cx="27840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66FFFF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Insights:</a:t>
            </a:r>
            <a:endParaRPr lang="en-IN" dirty="0">
              <a:solidFill>
                <a:srgbClr val="66FFFF"/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027BEEF-6CBB-2E64-129E-4F46824B8418}"/>
              </a:ext>
            </a:extLst>
          </p:cNvPr>
          <p:cNvSpPr txBox="1"/>
          <p:nvPr/>
        </p:nvSpPr>
        <p:spPr>
          <a:xfrm>
            <a:off x="4506687" y="2544731"/>
            <a:ext cx="435972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Retailer channel contributes the highest share of gross sales, making it a key driver of overall revenue.</a:t>
            </a:r>
            <a:endParaRPr lang="en-IN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Rectangle 83"/>
          <p:cNvSpPr/>
          <p:nvPr/>
        </p:nvSpPr>
        <p:spPr>
          <a:xfrm>
            <a:off x="476280" y="476280"/>
            <a:ext cx="8191080" cy="952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26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85" name="Rectangle 84"/>
          <p:cNvSpPr/>
          <p:nvPr/>
        </p:nvSpPr>
        <p:spPr>
          <a:xfrm>
            <a:off x="476280" y="1905120"/>
            <a:ext cx="8191080" cy="276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sz="12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B875952-4365-2AB1-6861-7B3E461A0566}"/>
              </a:ext>
            </a:extLst>
          </p:cNvPr>
          <p:cNvSpPr txBox="1"/>
          <p:nvPr/>
        </p:nvSpPr>
        <p:spPr>
          <a:xfrm>
            <a:off x="329323" y="230201"/>
            <a:ext cx="31894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rgbClr val="66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Query-10:</a:t>
            </a:r>
            <a:endParaRPr lang="en-IN" sz="3600" dirty="0">
              <a:solidFill>
                <a:srgbClr val="66FFF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07B4789-96B7-23CE-1717-7139387D1930}"/>
              </a:ext>
            </a:extLst>
          </p:cNvPr>
          <p:cNvSpPr txBox="1"/>
          <p:nvPr/>
        </p:nvSpPr>
        <p:spPr>
          <a:xfrm>
            <a:off x="416379" y="628650"/>
            <a:ext cx="8009163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IN" sz="1600" b="0" i="0" u="none" strike="noStrike" baseline="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r>
              <a:rPr lang="en-US" sz="2000" b="0" i="0" u="none" strike="noStrike" baseline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Get the Top 3 products in each division that have a high total _ sold _ quantity in the fiscal _ year 2021? </a:t>
            </a:r>
          </a:p>
          <a:p>
            <a:r>
              <a:rPr lang="en-US" sz="2000" b="0" i="0" u="none" strike="noStrike" baseline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final output contains these fields, division, product _ code,</a:t>
            </a:r>
            <a:endParaRPr lang="en-IN" sz="2000" b="0" i="0" u="none" strike="noStrike" baseline="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000" b="0" i="0" u="none" strike="noStrike" baseline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Product , total _ sold _ quantity , rank _ order.</a:t>
            </a:r>
            <a:endParaRPr lang="en-IN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AE63869-EDA8-E17A-0235-299B2E4F68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9678" y="2190995"/>
            <a:ext cx="4962986" cy="245853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267F0C0-E931-D561-ABEA-D2A06EC7725F}"/>
              </a:ext>
            </a:extLst>
          </p:cNvPr>
          <p:cNvSpPr txBox="1"/>
          <p:nvPr/>
        </p:nvSpPr>
        <p:spPr>
          <a:xfrm>
            <a:off x="329323" y="2645229"/>
            <a:ext cx="20546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66FFFF"/>
                </a:solidFill>
              </a:rPr>
              <a:t>Insights:</a:t>
            </a:r>
            <a:endParaRPr lang="en-IN" dirty="0">
              <a:solidFill>
                <a:srgbClr val="66FFFF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3CC7550-72B2-5671-859D-9098BB1E353D}"/>
              </a:ext>
            </a:extLst>
          </p:cNvPr>
          <p:cNvSpPr txBox="1"/>
          <p:nvPr/>
        </p:nvSpPr>
        <p:spPr>
          <a:xfrm>
            <a:off x="329323" y="3101523"/>
            <a:ext cx="3483398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Top-performing products vary across divisions, emphasizing the importance of targeted product and marketing strategies.</a:t>
            </a:r>
            <a:endParaRPr lang="en-IN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title"/>
          </p:nvPr>
        </p:nvSpPr>
        <p:spPr>
          <a:xfrm>
            <a:off x="237960" y="228600"/>
            <a:ext cx="4543200" cy="1095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2600" b="0" u="none" strike="noStrike" dirty="0">
                <a:solidFill>
                  <a:srgbClr val="66FFFF"/>
                </a:solidFill>
                <a:effectLst/>
                <a:uFillTx/>
                <a:latin typeface="Arial"/>
              </a:rPr>
              <a:t>Key Insights: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C556BA0-3D95-3860-AC46-581704683EF9}"/>
              </a:ext>
            </a:extLst>
          </p:cNvPr>
          <p:cNvSpPr txBox="1"/>
          <p:nvPr/>
        </p:nvSpPr>
        <p:spPr>
          <a:xfrm>
            <a:off x="336499" y="760781"/>
            <a:ext cx="7988199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product portfolio expanded significantly with </a:t>
            </a:r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36% increase in unique 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products in 2021.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</a:t>
            </a:r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Network segment 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has the highest product concentration, indicating core business focus.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</a:t>
            </a:r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Accessories segment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is the fastest-growing, showing strong demand and expansion potential.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Top </a:t>
            </a:r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customers receive higher discounts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highlighting a focus on retention and high-volume sales.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Sales show </a:t>
            </a:r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clear seasonal trends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with certain quarters driving higher Demand.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Revenue is largely driven by </a:t>
            </a:r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key sales channels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indicating dependency on specific channels.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19B06C-4596-29C5-F210-0E775C4687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>
            <a:extLst>
              <a:ext uri="{FF2B5EF4-FFF2-40B4-BE49-F238E27FC236}">
                <a16:creationId xmlns:a16="http://schemas.microsoft.com/office/drawing/2014/main" id="{2270B83A-653D-ED3B-0E87-F1A085F3A6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960" y="228600"/>
            <a:ext cx="4543200" cy="1095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2600" b="0" u="none" strike="noStrike" dirty="0">
                <a:solidFill>
                  <a:srgbClr val="66FFFF"/>
                </a:solidFill>
                <a:effectLst/>
                <a:uFillTx/>
                <a:latin typeface="Arial"/>
              </a:rPr>
              <a:t>RECOMMENDATIONS 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B6D411B-A63C-78AB-07D2-184210D0864B}"/>
              </a:ext>
            </a:extLst>
          </p:cNvPr>
          <p:cNvSpPr txBox="1"/>
          <p:nvPr/>
        </p:nvSpPr>
        <p:spPr>
          <a:xfrm>
            <a:off x="365760" y="936345"/>
            <a:ext cx="7410298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Focus on high-growth segments like Accessories to maximize future revenue.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Optimize discount strategies to balance customer retention and profit margins.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Invest more in top-performing sales channels to drive revenue growth.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Plan inventory and operations based on seasonal demand Patterns.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Promote and prioritize top-performing products in each division.</a:t>
            </a:r>
          </a:p>
        </p:txBody>
      </p:sp>
    </p:spTree>
    <p:extLst>
      <p:ext uri="{BB962C8B-B14F-4D97-AF65-F5344CB8AC3E}">
        <p14:creationId xmlns:p14="http://schemas.microsoft.com/office/powerpoint/2010/main" val="282112176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6BA900-F5D8-C40F-0AFD-E5BDDE0A50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>
            <a:extLst>
              <a:ext uri="{FF2B5EF4-FFF2-40B4-BE49-F238E27FC236}">
                <a16:creationId xmlns:a16="http://schemas.microsoft.com/office/drawing/2014/main" id="{C5B3382B-3B01-FAC5-BBD3-53EB3D330A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266760"/>
            <a:ext cx="7029000" cy="16473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3600" b="1" u="none" strike="noStrike" dirty="0">
                <a:solidFill>
                  <a:srgbClr val="66FFFF"/>
                </a:solidFill>
                <a:effectLst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CONCLUSION: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74CCD3F-3ACB-695D-F597-62617F3D870F}"/>
              </a:ext>
            </a:extLst>
          </p:cNvPr>
          <p:cNvSpPr txBox="1"/>
          <p:nvPr/>
        </p:nvSpPr>
        <p:spPr>
          <a:xfrm>
            <a:off x="409652" y="1090438"/>
            <a:ext cx="805403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This project demonstrates how data-driven insights can support strategic decisions, drive growth, and improve profitability in the consumer goods industry.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7642506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A533A3-2682-B26E-3951-AA7E8C946A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D5C0C52-FEED-7B98-3202-1D6096ACC7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73842"/>
            <a:ext cx="9143999" cy="52173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9746837"/>
      </p:ext>
    </p:extLst>
  </p:cSld>
  <p:clrMapOvr>
    <a:masterClrMapping/>
  </p:clrMapOvr>
</p:sld>
</file>

<file path=ppt/theme/theme1.xml><?xml version="1.0" encoding="utf-8"?>
<a:theme xmlns:a="http://schemas.openxmlformats.org/drawingml/2006/main" name="Project Roadmaps by Slidesgo">
  <a:themeElements>
    <a:clrScheme name="Simple Light">
      <a:dk1>
        <a:srgbClr val="FFFFFF"/>
      </a:dk1>
      <a:lt1>
        <a:srgbClr val="132763"/>
      </a:lt1>
      <a:dk2>
        <a:srgbClr val="FFFFFF"/>
      </a:dk2>
      <a:lt2>
        <a:srgbClr val="FFFFFF"/>
      </a:lt2>
      <a:accent1>
        <a:srgbClr val="F8C271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lidesgo Final Pages">
  <a:themeElements>
    <a:clrScheme name="Simple Light">
      <a:dk1>
        <a:srgbClr val="FFFFFF"/>
      </a:dk1>
      <a:lt1>
        <a:srgbClr val="22244E"/>
      </a:lt1>
      <a:dk2>
        <a:srgbClr val="503259"/>
      </a:dk2>
      <a:lt2>
        <a:srgbClr val="765186"/>
      </a:lt2>
      <a:accent1>
        <a:srgbClr val="B07CC6"/>
      </a:accent1>
      <a:accent2>
        <a:srgbClr val="FAF6E7"/>
      </a:accent2>
      <a:accent3>
        <a:srgbClr val="E3DFD2"/>
      </a:accent3>
      <a:accent4>
        <a:srgbClr val="FFFFFF"/>
      </a:accent4>
      <a:accent5>
        <a:srgbClr val="FFFFFF"/>
      </a:accent5>
      <a:accent6>
        <a:srgbClr val="FFFFFF"/>
      </a:accent6>
      <a:hlink>
        <a:srgbClr val="765186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721</TotalTime>
  <Words>1062</Words>
  <Application>Microsoft Office PowerPoint</Application>
  <PresentationFormat>On-screen Show (16:9)</PresentationFormat>
  <Paragraphs>99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18</vt:i4>
      </vt:variant>
    </vt:vector>
  </HeadingPairs>
  <TitlesOfParts>
    <vt:vector size="27" baseType="lpstr">
      <vt:lpstr>Albert Sans</vt:lpstr>
      <vt:lpstr>Arial</vt:lpstr>
      <vt:lpstr>Calibri</vt:lpstr>
      <vt:lpstr>OpenSymbol</vt:lpstr>
      <vt:lpstr>Symbol</vt:lpstr>
      <vt:lpstr>Wingdings</vt:lpstr>
      <vt:lpstr>Zalando Sans SemiExpanded Medium</vt:lpstr>
      <vt:lpstr>Project Roadmaps by Slidesgo</vt:lpstr>
      <vt:lpstr>Slidesgo Final Pages</vt:lpstr>
      <vt:lpstr> Title: Consumer Goods Ad-hoc Insights Using SQL Subtitle: Code basics Challenge 4</vt:lpstr>
      <vt:lpstr>BUSINESS CONTEXT:</vt:lpstr>
      <vt:lpstr>PowerPoint Presentation</vt:lpstr>
      <vt:lpstr>PowerPoint Presentation</vt:lpstr>
      <vt:lpstr>Query-1:  Provide the list of markets in which customer “ATLIQ- Exclusive” operates its business in the APAC region. </vt:lpstr>
      <vt:lpstr>PowerPoint Presentation</vt:lpstr>
      <vt:lpstr>Query-3:</vt:lpstr>
      <vt:lpstr>Query-4:  </vt:lpstr>
      <vt:lpstr>PowerPoint Presentation</vt:lpstr>
      <vt:lpstr>PowerPoint Presentation</vt:lpstr>
      <vt:lpstr>Query-7:</vt:lpstr>
      <vt:lpstr>Query-8:</vt:lpstr>
      <vt:lpstr>Query-9:</vt:lpstr>
      <vt:lpstr>PowerPoint Presentation</vt:lpstr>
      <vt:lpstr>Key Insights:</vt:lpstr>
      <vt:lpstr>RECOMMENDATIONS :</vt:lpstr>
      <vt:lpstr>         CONCLUSION:</vt:lpstr>
      <vt:lpstr>PowerPoint Presentation</vt:lpstr>
    </vt:vector>
  </TitlesOfParts>
  <Company>Microsoft Corporation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Sai Priya</cp:lastModifiedBy>
  <cp:revision>5</cp:revision>
  <dcterms:modified xsi:type="dcterms:W3CDTF">2026-03-23T07:06:26Z</dcterms:modified>
</cp:coreProperties>
</file>

<file path=docProps/core0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2026-03-20T15:24:18Z</dcterms:created>
  <dc:creator>Unknown Creator</dc:creator>
  <dc:description/>
  <dc:language>en-US</dc:language>
  <cp:lastModifiedBy>Unknown Creator</cp:lastModifiedBy>
  <dcterms:modified xsi:type="dcterms:W3CDTF">2026-03-20T15:24:18Z</dcterms:modified>
  <cp:revision>0</cp:revision>
  <dc:subject/>
  <dc:title>Untitled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lides">
    <vt:r8>12</vt:r8>
  </property>
</Properties>
</file>